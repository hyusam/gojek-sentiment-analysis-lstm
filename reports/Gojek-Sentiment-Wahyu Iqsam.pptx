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3" r:id="rId11"/>
    <p:sldId id="274" r:id="rId12"/>
    <p:sldId id="275" r:id="rId13"/>
    <p:sldId id="264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7" r:id="rId23"/>
    <p:sldId id="266" r:id="rId24"/>
    <p:sldId id="284" r:id="rId25"/>
    <p:sldId id="285" r:id="rId26"/>
    <p:sldId id="286" r:id="rId27"/>
    <p:sldId id="267" r:id="rId28"/>
    <p:sldId id="288" r:id="rId29"/>
    <p:sldId id="289" r:id="rId30"/>
    <p:sldId id="268" r:id="rId31"/>
    <p:sldId id="269" r:id="rId32"/>
    <p:sldId id="270" r:id="rId33"/>
    <p:sldId id="271" r:id="rId34"/>
    <p:sldId id="272" r:id="rId35"/>
  </p:sldIdLst>
  <p:sldSz cx="9145588" cy="5145088"/>
  <p:notesSz cx="6858000" cy="9144000"/>
  <p:embeddedFontLst>
    <p:embeddedFont>
      <p:font typeface="Plus Jakarta Sans" panose="020B0604020202020204" charset="0"/>
      <p:regular r:id="rId37"/>
      <p:bold r:id="rId38"/>
      <p:italic r:id="rId39"/>
      <p:boldItalic r:id="rId40"/>
    </p:embeddedFont>
    <p:embeddedFont>
      <p:font typeface="Plus Jakarta Sans Medium" panose="020B0604020202020204" charset="0"/>
      <p:regular r:id="rId41"/>
      <p:bold r:id="rId42"/>
      <p:italic r:id="rId43"/>
      <p:boldItalic r:id="rId44"/>
    </p:embeddedFont>
    <p:embeddedFont>
      <p:font typeface="Sans Serif Collection" panose="020B0502040504020204" pitchFamily="34" charset="0"/>
      <p:regular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000000"/>
          </p15:clr>
        </p15:guide>
        <p15:guide id="2" pos="2881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jobBvQXVD1klj10ZWU4Cl+Ts4U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A1C5"/>
    <a:srgbClr val="66FF66"/>
    <a:srgbClr val="41B7D1"/>
    <a:srgbClr val="CBCBCB"/>
    <a:srgbClr val="FF0052"/>
    <a:srgbClr val="00C68D"/>
    <a:srgbClr val="262626"/>
    <a:srgbClr val="0055DA"/>
    <a:srgbClr val="01A4C9"/>
    <a:srgbClr val="00A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Gaya Medium 2 - Akse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Gaya Medium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014" y="120"/>
      </p:cViewPr>
      <p:guideLst>
        <p:guide orient="horz" pos="1621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customschemas.google.com/relationships/presentationmetadata" Target="metadata"/><Relationship Id="rId20" Type="http://schemas.openxmlformats.org/officeDocument/2006/relationships/slide" Target="slides/slide1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 err="1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Distribusi</a:t>
            </a:r>
            <a:r>
              <a:rPr lang="en-US" sz="1200" b="1" dirty="0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 Score</a:t>
            </a:r>
            <a:r>
              <a:rPr lang="en-US" sz="1200" b="1" baseline="0" dirty="0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(</a:t>
            </a:r>
            <a:r>
              <a:rPr lang="en-US" sz="1200" b="1" dirty="0" err="1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Sebelum</a:t>
            </a:r>
            <a:r>
              <a:rPr lang="en-US" sz="1200" b="1" dirty="0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 Cleaning)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Lembar1!$B$1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5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5E1-4009-B064-FE7E4E9532CD}"/>
              </c:ext>
            </c:extLst>
          </c:dPt>
          <c:dPt>
            <c:idx val="1"/>
            <c:invertIfNegative val="0"/>
            <c:bubble3D val="0"/>
            <c:spPr>
              <a:solidFill>
                <a:srgbClr val="FFD4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E1-4009-B064-FE7E4E9532CD}"/>
              </c:ext>
            </c:extLst>
          </c:dPt>
          <c:dPt>
            <c:idx val="2"/>
            <c:invertIfNegative val="0"/>
            <c:bubble3D val="0"/>
            <c:spPr>
              <a:solidFill>
                <a:srgbClr val="0055D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5E1-4009-B064-FE7E4E9532CD}"/>
              </c:ext>
            </c:extLst>
          </c:dPt>
          <c:dPt>
            <c:idx val="3"/>
            <c:invertIfNegative val="0"/>
            <c:bubble3D val="0"/>
            <c:spPr>
              <a:solidFill>
                <a:srgbClr val="00C6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E1-4009-B064-FE7E4E9532CD}"/>
              </c:ext>
            </c:extLst>
          </c:dPt>
          <c:cat>
            <c:numRef>
              <c:f>Lembar1!$A$2:$A$5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</c:numCache>
            </c:numRef>
          </c:cat>
          <c:val>
            <c:numRef>
              <c:f>Lembar1!$B$2:$B$5</c:f>
              <c:numCache>
                <c:formatCode>General</c:formatCode>
                <c:ptCount val="4"/>
                <c:pt idx="0">
                  <c:v>45229</c:v>
                </c:pt>
                <c:pt idx="1">
                  <c:v>8942</c:v>
                </c:pt>
                <c:pt idx="2">
                  <c:v>14315</c:v>
                </c:pt>
                <c:pt idx="3">
                  <c:v>147054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E1-4009-B064-FE7E4E953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"/>
        <c:axId val="1591702271"/>
        <c:axId val="1591701311"/>
      </c:barChart>
      <c:catAx>
        <c:axId val="15917022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lus Jakarta Sans" panose="020B0604020202020204" charset="0"/>
                    <a:ea typeface="+mn-ea"/>
                    <a:cs typeface="Plus Jakarta Sans" panose="020B0604020202020204" charset="0"/>
                  </a:defRPr>
                </a:pPr>
                <a:r>
                  <a:rPr lang="en-ID" sz="1000" dirty="0">
                    <a:latin typeface="Plus Jakarta Sans" panose="020B0604020202020204" charset="0"/>
                    <a:cs typeface="Plus Jakarta Sans" panose="020B0604020202020204" charset="0"/>
                  </a:rPr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lus Jakarta Sans" panose="020B0604020202020204" charset="0"/>
                  <a:ea typeface="+mn-ea"/>
                  <a:cs typeface="Plus Jakarta Sans" panose="020B060402020202020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1701311"/>
        <c:crosses val="autoZero"/>
        <c:auto val="1"/>
        <c:lblAlgn val="ctr"/>
        <c:lblOffset val="100"/>
        <c:noMultiLvlLbl val="0"/>
      </c:catAx>
      <c:valAx>
        <c:axId val="15917013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anose="020B0604020202020204" charset="0"/>
                <a:ea typeface="+mn-ea"/>
                <a:cs typeface="Plus Jakarta Sans" panose="020B0604020202020204" charset="0"/>
              </a:defRPr>
            </a:pPr>
            <a:endParaRPr lang="en-US"/>
          </a:p>
        </c:txPr>
        <c:crossAx val="15917022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 err="1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Distribusi</a:t>
            </a:r>
            <a:r>
              <a:rPr lang="en-US" sz="1200" b="1" dirty="0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Sampel</a:t>
            </a:r>
            <a:r>
              <a:rPr lang="en-US" sz="1200" b="1" dirty="0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Sentimen</a:t>
            </a:r>
            <a:r>
              <a:rPr lang="en-US" sz="1200" b="1" dirty="0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 (Balanced)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Lembar1!$B$1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5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5E1-4009-B064-FE7E4E9532CD}"/>
              </c:ext>
            </c:extLst>
          </c:dPt>
          <c:dPt>
            <c:idx val="1"/>
            <c:invertIfNegative val="0"/>
            <c:bubble3D val="0"/>
            <c:spPr>
              <a:solidFill>
                <a:srgbClr val="00C6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E1-4009-B064-FE7E4E9532CD}"/>
              </c:ext>
            </c:extLst>
          </c:dPt>
          <c:dPt>
            <c:idx val="2"/>
            <c:invertIfNegative val="0"/>
            <c:bubble3D val="0"/>
            <c:spPr>
              <a:solidFill>
                <a:srgbClr val="0055D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5E1-4009-B064-FE7E4E9532CD}"/>
              </c:ext>
            </c:extLst>
          </c:dPt>
          <c:dPt>
            <c:idx val="3"/>
            <c:invertIfNegative val="0"/>
            <c:bubble3D val="0"/>
            <c:spPr>
              <a:solidFill>
                <a:srgbClr val="00C6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E1-4009-B064-FE7E4E9532CD}"/>
              </c:ext>
            </c:extLst>
          </c:dPt>
          <c:cat>
            <c:strRef>
              <c:f>Lembar1!$A$2:$A$3</c:f>
              <c:strCache>
                <c:ptCount val="2"/>
                <c:pt idx="0">
                  <c:v>Negative (0)</c:v>
                </c:pt>
                <c:pt idx="1">
                  <c:v>Positive (1)</c:v>
                </c:pt>
              </c:strCache>
            </c:strRef>
          </c:cat>
          <c:val>
            <c:numRef>
              <c:f>Lembar1!$B$2:$B$3</c:f>
              <c:numCache>
                <c:formatCode>General</c:formatCode>
                <c:ptCount val="2"/>
                <c:pt idx="0">
                  <c:v>43079</c:v>
                </c:pt>
                <c:pt idx="1">
                  <c:v>43079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E1-4009-B064-FE7E4E953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"/>
        <c:axId val="1591702271"/>
        <c:axId val="1591701311"/>
      </c:barChart>
      <c:catAx>
        <c:axId val="15917022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lus Jakarta Sans" panose="020B0604020202020204" charset="0"/>
                    <a:ea typeface="+mn-ea"/>
                    <a:cs typeface="Plus Jakarta Sans" panose="020B0604020202020204" charset="0"/>
                  </a:defRPr>
                </a:pPr>
                <a:r>
                  <a:rPr lang="en-ID" sz="1000" dirty="0">
                    <a:latin typeface="Plus Jakarta Sans" panose="020B0604020202020204" charset="0"/>
                    <a:cs typeface="Plus Jakarta Sans" panose="020B0604020202020204" charset="0"/>
                  </a:rPr>
                  <a:t>Sentiment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lus Jakarta Sans" panose="020B0604020202020204" charset="0"/>
                  <a:ea typeface="+mn-ea"/>
                  <a:cs typeface="Plus Jakarta Sans" panose="020B060402020202020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 panose="020B0604020202020204" charset="0"/>
                <a:ea typeface="+mn-ea"/>
                <a:cs typeface="Plus Jakarta Sans" panose="020B0604020202020204" charset="0"/>
              </a:defRPr>
            </a:pPr>
            <a:endParaRPr lang="en-US"/>
          </a:p>
        </c:txPr>
        <c:crossAx val="1591701311"/>
        <c:crosses val="autoZero"/>
        <c:auto val="1"/>
        <c:lblAlgn val="ctr"/>
        <c:lblOffset val="100"/>
        <c:noMultiLvlLbl val="0"/>
      </c:catAx>
      <c:valAx>
        <c:axId val="15917013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17022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Lembar1!$B$1</c:f>
              <c:strCache>
                <c:ptCount val="1"/>
                <c:pt idx="0">
                  <c:v>Seri 1</c:v>
                </c:pt>
              </c:strCache>
            </c:strRef>
          </c:tx>
          <c:spPr>
            <a:solidFill>
              <a:srgbClr val="00C68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sng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lus Jakarta Sans" panose="020B0604020202020204" charset="0"/>
                    <a:ea typeface="+mn-ea"/>
                    <a:cs typeface="Plus Jakarta Sans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Lembar1!$A$2:$A$21</c:f>
              <c:strCache>
                <c:ptCount val="20"/>
                <c:pt idx="0">
                  <c:v>terimakasih</c:v>
                </c:pt>
                <c:pt idx="1">
                  <c:v>suka</c:v>
                </c:pt>
                <c:pt idx="2">
                  <c:v>keren</c:v>
                </c:pt>
                <c:pt idx="3">
                  <c:v>top</c:v>
                </c:pt>
                <c:pt idx="4">
                  <c:v>guna</c:v>
                </c:pt>
                <c:pt idx="5">
                  <c:v>ramah</c:v>
                </c:pt>
                <c:pt idx="6">
                  <c:v>kalau</c:v>
                </c:pt>
                <c:pt idx="7">
                  <c:v>selalu</c:v>
                </c:pt>
                <c:pt idx="8">
                  <c:v>promo</c:v>
                </c:pt>
                <c:pt idx="9">
                  <c:v>terima</c:v>
                </c:pt>
                <c:pt idx="10">
                  <c:v>driver</c:v>
                </c:pt>
                <c:pt idx="11">
                  <c:v>cepat</c:v>
                </c:pt>
                <c:pt idx="12">
                  <c:v>layan</c:v>
                </c:pt>
                <c:pt idx="13">
                  <c:v>banyak</c:v>
                </c:pt>
                <c:pt idx="14">
                  <c:v>oke</c:v>
                </c:pt>
                <c:pt idx="15">
                  <c:v>mudah</c:v>
                </c:pt>
                <c:pt idx="16">
                  <c:v>tidak</c:v>
                </c:pt>
                <c:pt idx="17">
                  <c:v>aplikasi</c:v>
                </c:pt>
                <c:pt idx="18">
                  <c:v>bantu</c:v>
                </c:pt>
                <c:pt idx="19">
                  <c:v>bagus</c:v>
                </c:pt>
              </c:strCache>
            </c:strRef>
          </c:cat>
          <c:val>
            <c:numRef>
              <c:f>Lembar1!$B$2:$B$21</c:f>
              <c:numCache>
                <c:formatCode>General</c:formatCode>
                <c:ptCount val="20"/>
                <c:pt idx="0">
                  <c:v>757</c:v>
                </c:pt>
                <c:pt idx="1">
                  <c:v>765</c:v>
                </c:pt>
                <c:pt idx="2">
                  <c:v>823</c:v>
                </c:pt>
                <c:pt idx="3">
                  <c:v>894</c:v>
                </c:pt>
                <c:pt idx="4">
                  <c:v>911</c:v>
                </c:pt>
                <c:pt idx="5">
                  <c:v>960</c:v>
                </c:pt>
                <c:pt idx="6" formatCode="#,##0">
                  <c:v>1092</c:v>
                </c:pt>
                <c:pt idx="7" formatCode="#,##0">
                  <c:v>1235</c:v>
                </c:pt>
                <c:pt idx="8" formatCode="#,##0">
                  <c:v>1243</c:v>
                </c:pt>
                <c:pt idx="9" formatCode="#,##0">
                  <c:v>1286</c:v>
                </c:pt>
                <c:pt idx="10" formatCode="#,##0">
                  <c:v>1499</c:v>
                </c:pt>
                <c:pt idx="11" formatCode="#,##0">
                  <c:v>1571</c:v>
                </c:pt>
                <c:pt idx="12" formatCode="#,##0">
                  <c:v>1576</c:v>
                </c:pt>
                <c:pt idx="13" formatCode="#,##0">
                  <c:v>1579</c:v>
                </c:pt>
                <c:pt idx="14" formatCode="#,##0">
                  <c:v>1602</c:v>
                </c:pt>
                <c:pt idx="15" formatCode="#,##0">
                  <c:v>2150</c:v>
                </c:pt>
                <c:pt idx="16" formatCode="#,##0">
                  <c:v>3118</c:v>
                </c:pt>
                <c:pt idx="17" formatCode="#,##0">
                  <c:v>4148</c:v>
                </c:pt>
                <c:pt idx="18" formatCode="#,##0">
                  <c:v>6205</c:v>
                </c:pt>
                <c:pt idx="19">
                  <c:v>11286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BF-423C-97A9-CAA2E209DE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"/>
        <c:axId val="1584753311"/>
        <c:axId val="1584754271"/>
      </c:barChart>
      <c:catAx>
        <c:axId val="1584753311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Plus Jakarta Sans" panose="020B0604020202020204" charset="0"/>
                <a:ea typeface="+mn-ea"/>
                <a:cs typeface="Plus Jakarta Sans" panose="020B0604020202020204" charset="0"/>
              </a:defRPr>
            </a:pPr>
            <a:endParaRPr lang="en-US"/>
          </a:p>
        </c:txPr>
        <c:crossAx val="1584754271"/>
        <c:crosses val="autoZero"/>
        <c:auto val="1"/>
        <c:lblAlgn val="ctr"/>
        <c:lblOffset val="100"/>
        <c:noMultiLvlLbl val="0"/>
      </c:catAx>
      <c:valAx>
        <c:axId val="1584754271"/>
        <c:scaling>
          <c:orientation val="maxMin"/>
        </c:scaling>
        <c:delete val="1"/>
        <c:axPos val="b"/>
        <c:numFmt formatCode="General" sourceLinked="1"/>
        <c:majorTickMark val="none"/>
        <c:minorTickMark val="none"/>
        <c:tickLblPos val="nextTo"/>
        <c:crossAx val="1584753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Plus Jakarta Sans" panose="020B0604020202020204" charset="0"/>
          <a:cs typeface="Plus Jakarta Sans" panose="020B060402020202020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Lembar1!$B$1</c:f>
              <c:strCache>
                <c:ptCount val="1"/>
                <c:pt idx="0">
                  <c:v>Seri 1</c:v>
                </c:pt>
              </c:strCache>
            </c:strRef>
          </c:tx>
          <c:spPr>
            <a:solidFill>
              <a:srgbClr val="FF005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sng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lus Jakarta Sans" panose="020B0604020202020204" charset="0"/>
                    <a:ea typeface="+mn-ea"/>
                    <a:cs typeface="Plus Jakarta Sans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Lembar1!$A$2:$A$21</c:f>
              <c:strCache>
                <c:ptCount val="20"/>
                <c:pt idx="0">
                  <c:v>kecewa</c:v>
                </c:pt>
                <c:pt idx="1">
                  <c:v>apa</c:v>
                </c:pt>
                <c:pt idx="2">
                  <c:v>susah</c:v>
                </c:pt>
                <c:pt idx="3">
                  <c:v>order</c:v>
                </c:pt>
                <c:pt idx="4">
                  <c:v>banyak</c:v>
                </c:pt>
                <c:pt idx="5">
                  <c:v>mahal</c:v>
                </c:pt>
                <c:pt idx="6">
                  <c:v>saldo</c:v>
                </c:pt>
                <c:pt idx="7">
                  <c:v>pesan</c:v>
                </c:pt>
                <c:pt idx="8">
                  <c:v>masuk</c:v>
                </c:pt>
                <c:pt idx="9">
                  <c:v>akun</c:v>
                </c:pt>
                <c:pt idx="10">
                  <c:v>bayar</c:v>
                </c:pt>
                <c:pt idx="11">
                  <c:v>buruk</c:v>
                </c:pt>
                <c:pt idx="12">
                  <c:v>sekarang</c:v>
                </c:pt>
                <c:pt idx="13">
                  <c:v>malah</c:v>
                </c:pt>
                <c:pt idx="14">
                  <c:v>sama</c:v>
                </c:pt>
                <c:pt idx="15">
                  <c:v>kalau</c:v>
                </c:pt>
                <c:pt idx="16">
                  <c:v>padahal</c:v>
                </c:pt>
                <c:pt idx="17">
                  <c:v>driver</c:v>
                </c:pt>
                <c:pt idx="18">
                  <c:v>aplikasi</c:v>
                </c:pt>
                <c:pt idx="19">
                  <c:v>tidak</c:v>
                </c:pt>
              </c:strCache>
            </c:strRef>
          </c:cat>
          <c:val>
            <c:numRef>
              <c:f>Lembar1!$B$2:$B$21</c:f>
              <c:numCache>
                <c:formatCode>#,##0</c:formatCode>
                <c:ptCount val="20"/>
                <c:pt idx="0">
                  <c:v>2787</c:v>
                </c:pt>
                <c:pt idx="1">
                  <c:v>2924</c:v>
                </c:pt>
                <c:pt idx="2">
                  <c:v>2930</c:v>
                </c:pt>
                <c:pt idx="3">
                  <c:v>3014</c:v>
                </c:pt>
                <c:pt idx="4">
                  <c:v>3018</c:v>
                </c:pt>
                <c:pt idx="5">
                  <c:v>3034</c:v>
                </c:pt>
                <c:pt idx="6">
                  <c:v>3165</c:v>
                </c:pt>
                <c:pt idx="7">
                  <c:v>3328</c:v>
                </c:pt>
                <c:pt idx="8">
                  <c:v>3373</c:v>
                </c:pt>
                <c:pt idx="9">
                  <c:v>3451</c:v>
                </c:pt>
                <c:pt idx="10">
                  <c:v>3679</c:v>
                </c:pt>
                <c:pt idx="11">
                  <c:v>3831</c:v>
                </c:pt>
                <c:pt idx="12">
                  <c:v>4356</c:v>
                </c:pt>
                <c:pt idx="13">
                  <c:v>4385</c:v>
                </c:pt>
                <c:pt idx="14">
                  <c:v>4434</c:v>
                </c:pt>
                <c:pt idx="15">
                  <c:v>5026</c:v>
                </c:pt>
                <c:pt idx="16">
                  <c:v>5739</c:v>
                </c:pt>
                <c:pt idx="17">
                  <c:v>9905</c:v>
                </c:pt>
                <c:pt idx="18">
                  <c:v>12653</c:v>
                </c:pt>
                <c:pt idx="19">
                  <c:v>31838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2-4E95-9961-B7884896EC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"/>
        <c:axId val="1584753311"/>
        <c:axId val="1584754271"/>
      </c:barChart>
      <c:catAx>
        <c:axId val="15847533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Plus Jakarta Sans" panose="020B0604020202020204" charset="0"/>
                <a:ea typeface="+mn-ea"/>
                <a:cs typeface="Plus Jakarta Sans" panose="020B0604020202020204" charset="0"/>
              </a:defRPr>
            </a:pPr>
            <a:endParaRPr lang="en-US"/>
          </a:p>
        </c:txPr>
        <c:crossAx val="1584754271"/>
        <c:crosses val="autoZero"/>
        <c:auto val="1"/>
        <c:lblAlgn val="ctr"/>
        <c:lblOffset val="100"/>
        <c:noMultiLvlLbl val="0"/>
      </c:catAx>
      <c:valAx>
        <c:axId val="1584754271"/>
        <c:scaling>
          <c:orientation val="minMax"/>
        </c:scaling>
        <c:delete val="1"/>
        <c:axPos val="b"/>
        <c:numFmt formatCode="#,##0" sourceLinked="1"/>
        <c:majorTickMark val="none"/>
        <c:minorTickMark val="none"/>
        <c:tickLblPos val="nextTo"/>
        <c:crossAx val="1584753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Plus Jakarta Sans" panose="020B0604020202020204" charset="0"/>
          <a:cs typeface="Plus Jakarta Sans" panose="020B060402020202020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585e5a4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26585e5a4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585e5a41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26585e5a41e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585e5a41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26585e5a41e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585e5a41e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26585e5a41e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348ee98e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27348ee98e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7348ee98e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27348ee98e6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348ee98e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27348ee98e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348ee98e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27348ee98e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348ee98e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27348ee98e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4896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348ee98e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27348ee98e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7782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348ee98e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27348ee98e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1412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348ee98e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27348ee98e6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348ee98e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7348ee98e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89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348ee98e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7348ee98e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141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348ee98e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7348ee98e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6662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348ee98e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7348ee98e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990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348ee98e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7348ee98e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3801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348ee98e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7348ee98e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992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348ee98e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7348ee98e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07789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348ee98e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7348ee98e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16257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348ee98e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7348ee98e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77862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7348ee98e6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27348ee98e6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348ee98e6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7348ee98e6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8253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348ee98e6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7348ee98e6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0767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348ee98e6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7348ee98e6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10951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348ee98e6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7348ee98e6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348ee98e6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7348ee98e6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1782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348ee98e6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7348ee98e6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15357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07ed3a68e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07ed3a68e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07ed3a68e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07ed3a68e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07ed3a68e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307ed3a68e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7ed3a68e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307ed3a68e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6585e5a41e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708" y="685800"/>
            <a:ext cx="60951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g26585e5a41e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685920" y="1598313"/>
            <a:ext cx="7773750" cy="110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371839" y="2915550"/>
            <a:ext cx="6401911" cy="1314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42ff3d8b87_1_105"/>
          <p:cNvSpPr txBox="1">
            <a:spLocks noGrp="1"/>
          </p:cNvSpPr>
          <p:nvPr>
            <p:ph type="ftr" idx="11"/>
          </p:nvPr>
        </p:nvSpPr>
        <p:spPr>
          <a:xfrm>
            <a:off x="3109495" y="4784920"/>
            <a:ext cx="29268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142ff3d8b87_1_105"/>
          <p:cNvSpPr txBox="1">
            <a:spLocks noGrp="1"/>
          </p:cNvSpPr>
          <p:nvPr>
            <p:ph type="dt" idx="10"/>
          </p:nvPr>
        </p:nvSpPr>
        <p:spPr>
          <a:xfrm>
            <a:off x="457279" y="4784920"/>
            <a:ext cx="21033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42ff3d8b87_1_105"/>
          <p:cNvSpPr txBox="1">
            <a:spLocks noGrp="1"/>
          </p:cNvSpPr>
          <p:nvPr>
            <p:ph type="sldNum" idx="12"/>
          </p:nvPr>
        </p:nvSpPr>
        <p:spPr>
          <a:xfrm>
            <a:off x="6584814" y="4784920"/>
            <a:ext cx="2103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722438" y="3306196"/>
            <a:ext cx="7773750" cy="1021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722438" y="2180709"/>
            <a:ext cx="7773750" cy="11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457280" y="206042"/>
            <a:ext cx="8231030" cy="85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350899" y="1229105"/>
            <a:ext cx="3083461" cy="347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3586787" y="1229105"/>
            <a:ext cx="3085047" cy="347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457280" y="206042"/>
            <a:ext cx="8231030" cy="85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457279" y="1151690"/>
            <a:ext cx="404089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457279" y="1631660"/>
            <a:ext cx="4040890" cy="296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4645833" y="1151690"/>
            <a:ext cx="4042477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4645833" y="1631660"/>
            <a:ext cx="4042477" cy="296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457280" y="206042"/>
            <a:ext cx="8231030" cy="85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dt" idx="10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ftr" idx="11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457280" y="204851"/>
            <a:ext cx="3008835" cy="871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3575671" y="204852"/>
            <a:ext cx="5112638" cy="4391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2"/>
          </p:nvPr>
        </p:nvSpPr>
        <p:spPr>
          <a:xfrm>
            <a:off x="457280" y="1076658"/>
            <a:ext cx="3008835" cy="3519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dt" idx="10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ftr" idx="11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1792600" y="3601562"/>
            <a:ext cx="5487353" cy="42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>
            <a:spLocks noGrp="1"/>
          </p:cNvSpPr>
          <p:nvPr>
            <p:ph type="pic" idx="2"/>
          </p:nvPr>
        </p:nvSpPr>
        <p:spPr>
          <a:xfrm>
            <a:off x="1792600" y="459723"/>
            <a:ext cx="5487353" cy="3087053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1792600" y="4026747"/>
            <a:ext cx="5487353" cy="60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dt" idx="10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ftr" idx="11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457280" y="206042"/>
            <a:ext cx="8231030" cy="85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body" idx="1"/>
          </p:nvPr>
        </p:nvSpPr>
        <p:spPr>
          <a:xfrm rot="5400000">
            <a:off x="2875035" y="-1217234"/>
            <a:ext cx="3395520" cy="8231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dt" idx="10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ftr" idx="11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sldNum" idx="12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>
            <a:spLocks noGrp="1"/>
          </p:cNvSpPr>
          <p:nvPr>
            <p:ph type="title"/>
          </p:nvPr>
        </p:nvSpPr>
        <p:spPr>
          <a:xfrm rot="5400000">
            <a:off x="3634513" y="1668292"/>
            <a:ext cx="4494806" cy="1579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1"/>
          </p:nvPr>
        </p:nvSpPr>
        <p:spPr>
          <a:xfrm rot="5400000">
            <a:off x="397832" y="163874"/>
            <a:ext cx="4494806" cy="458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dt" idx="10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ftr" idx="11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ldNum" idx="12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d97f235b5_0_171"/>
          <p:cNvSpPr txBox="1">
            <a:spLocks noGrp="1"/>
          </p:cNvSpPr>
          <p:nvPr>
            <p:ph type="ctrTitle"/>
          </p:nvPr>
        </p:nvSpPr>
        <p:spPr>
          <a:xfrm>
            <a:off x="311762" y="744803"/>
            <a:ext cx="8522100" cy="20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4" name="Google Shape;94;g2ad97f235b5_0_171"/>
          <p:cNvSpPr txBox="1">
            <a:spLocks noGrp="1"/>
          </p:cNvSpPr>
          <p:nvPr>
            <p:ph type="subTitle" idx="1"/>
          </p:nvPr>
        </p:nvSpPr>
        <p:spPr>
          <a:xfrm>
            <a:off x="311754" y="2834993"/>
            <a:ext cx="8522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5" name="Google Shape;95;g2ad97f235b5_0_171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d97f235b5_0_175"/>
          <p:cNvSpPr txBox="1">
            <a:spLocks noGrp="1"/>
          </p:cNvSpPr>
          <p:nvPr>
            <p:ph type="title"/>
          </p:nvPr>
        </p:nvSpPr>
        <p:spPr>
          <a:xfrm>
            <a:off x="311754" y="2151509"/>
            <a:ext cx="8522100" cy="8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8" name="Google Shape;98;g2ad97f235b5_0_175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d97f235b5_0_178"/>
          <p:cNvSpPr txBox="1">
            <a:spLocks noGrp="1"/>
          </p:cNvSpPr>
          <p:nvPr>
            <p:ph type="title"/>
          </p:nvPr>
        </p:nvSpPr>
        <p:spPr>
          <a:xfrm>
            <a:off x="311754" y="445161"/>
            <a:ext cx="852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2ad97f235b5_0_178"/>
          <p:cNvSpPr txBox="1">
            <a:spLocks noGrp="1"/>
          </p:cNvSpPr>
          <p:nvPr>
            <p:ph type="body" idx="1"/>
          </p:nvPr>
        </p:nvSpPr>
        <p:spPr>
          <a:xfrm>
            <a:off x="311754" y="1152828"/>
            <a:ext cx="8522100" cy="3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2ad97f235b5_0_178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d97f235b5_0_182"/>
          <p:cNvSpPr txBox="1">
            <a:spLocks noGrp="1"/>
          </p:cNvSpPr>
          <p:nvPr>
            <p:ph type="title"/>
          </p:nvPr>
        </p:nvSpPr>
        <p:spPr>
          <a:xfrm>
            <a:off x="311754" y="445161"/>
            <a:ext cx="852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2ad97f235b5_0_182"/>
          <p:cNvSpPr txBox="1">
            <a:spLocks noGrp="1"/>
          </p:cNvSpPr>
          <p:nvPr>
            <p:ph type="body" idx="1"/>
          </p:nvPr>
        </p:nvSpPr>
        <p:spPr>
          <a:xfrm>
            <a:off x="311754" y="1152828"/>
            <a:ext cx="4000500" cy="3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g2ad97f235b5_0_182"/>
          <p:cNvSpPr txBox="1">
            <a:spLocks noGrp="1"/>
          </p:cNvSpPr>
          <p:nvPr>
            <p:ph type="body" idx="2"/>
          </p:nvPr>
        </p:nvSpPr>
        <p:spPr>
          <a:xfrm>
            <a:off x="4833232" y="1152828"/>
            <a:ext cx="4000500" cy="3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7" name="Google Shape;107;g2ad97f235b5_0_182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d97f235b5_0_187"/>
          <p:cNvSpPr txBox="1">
            <a:spLocks noGrp="1"/>
          </p:cNvSpPr>
          <p:nvPr>
            <p:ph type="title"/>
          </p:nvPr>
        </p:nvSpPr>
        <p:spPr>
          <a:xfrm>
            <a:off x="311754" y="445161"/>
            <a:ext cx="852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2ad97f235b5_0_187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ad97f235b5_0_190"/>
          <p:cNvSpPr txBox="1">
            <a:spLocks noGrp="1"/>
          </p:cNvSpPr>
          <p:nvPr>
            <p:ph type="title"/>
          </p:nvPr>
        </p:nvSpPr>
        <p:spPr>
          <a:xfrm>
            <a:off x="311754" y="555770"/>
            <a:ext cx="28086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3" name="Google Shape;113;g2ad97f235b5_0_190"/>
          <p:cNvSpPr txBox="1">
            <a:spLocks noGrp="1"/>
          </p:cNvSpPr>
          <p:nvPr>
            <p:ph type="body" idx="1"/>
          </p:nvPr>
        </p:nvSpPr>
        <p:spPr>
          <a:xfrm>
            <a:off x="311754" y="1390026"/>
            <a:ext cx="2808600" cy="3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4" name="Google Shape;114;g2ad97f235b5_0_190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d97f235b5_0_194"/>
          <p:cNvSpPr txBox="1">
            <a:spLocks noGrp="1"/>
          </p:cNvSpPr>
          <p:nvPr>
            <p:ph type="title"/>
          </p:nvPr>
        </p:nvSpPr>
        <p:spPr>
          <a:xfrm>
            <a:off x="490334" y="450288"/>
            <a:ext cx="6369000" cy="4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7" name="Google Shape;117;g2ad97f235b5_0_194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ad97f235b5_0_197"/>
          <p:cNvSpPr/>
          <p:nvPr/>
        </p:nvSpPr>
        <p:spPr>
          <a:xfrm>
            <a:off x="4572788" y="-125"/>
            <a:ext cx="4572900" cy="51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2ad97f235b5_0_197"/>
          <p:cNvSpPr txBox="1">
            <a:spLocks noGrp="1"/>
          </p:cNvSpPr>
          <p:nvPr>
            <p:ph type="title"/>
          </p:nvPr>
        </p:nvSpPr>
        <p:spPr>
          <a:xfrm>
            <a:off x="265546" y="1233553"/>
            <a:ext cx="4045800" cy="14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1" name="Google Shape;121;g2ad97f235b5_0_197"/>
          <p:cNvSpPr txBox="1">
            <a:spLocks noGrp="1"/>
          </p:cNvSpPr>
          <p:nvPr>
            <p:ph type="subTitle" idx="1"/>
          </p:nvPr>
        </p:nvSpPr>
        <p:spPr>
          <a:xfrm>
            <a:off x="265546" y="2803933"/>
            <a:ext cx="40458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2" name="Google Shape;122;g2ad97f235b5_0_197"/>
          <p:cNvSpPr txBox="1">
            <a:spLocks noGrp="1"/>
          </p:cNvSpPr>
          <p:nvPr>
            <p:ph type="body" idx="2"/>
          </p:nvPr>
        </p:nvSpPr>
        <p:spPr>
          <a:xfrm>
            <a:off x="4940351" y="724297"/>
            <a:ext cx="3837600" cy="3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2ad97f235b5_0_197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d97f235b5_0_203"/>
          <p:cNvSpPr txBox="1">
            <a:spLocks noGrp="1"/>
          </p:cNvSpPr>
          <p:nvPr>
            <p:ph type="body" idx="1"/>
          </p:nvPr>
        </p:nvSpPr>
        <p:spPr>
          <a:xfrm>
            <a:off x="311754" y="4231870"/>
            <a:ext cx="59997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2ad97f235b5_0_203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ad97f235b5_0_206"/>
          <p:cNvSpPr txBox="1">
            <a:spLocks noGrp="1"/>
          </p:cNvSpPr>
          <p:nvPr>
            <p:ph type="title" hasCustomPrompt="1"/>
          </p:nvPr>
        </p:nvSpPr>
        <p:spPr>
          <a:xfrm>
            <a:off x="311754" y="1106464"/>
            <a:ext cx="8522100" cy="19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9" name="Google Shape;129;g2ad97f235b5_0_206"/>
          <p:cNvSpPr txBox="1">
            <a:spLocks noGrp="1"/>
          </p:cNvSpPr>
          <p:nvPr>
            <p:ph type="body" idx="1"/>
          </p:nvPr>
        </p:nvSpPr>
        <p:spPr>
          <a:xfrm>
            <a:off x="311754" y="3153190"/>
            <a:ext cx="8522100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2ad97f235b5_0_206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d97f235b5_0_210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80" y="206042"/>
            <a:ext cx="8231030" cy="85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80" y="1200521"/>
            <a:ext cx="8231030" cy="33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81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743" y="4768735"/>
            <a:ext cx="2896103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4339" y="4768735"/>
            <a:ext cx="2133970" cy="27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d97f235b5_0_167"/>
          <p:cNvSpPr txBox="1">
            <a:spLocks noGrp="1"/>
          </p:cNvSpPr>
          <p:nvPr>
            <p:ph type="title"/>
          </p:nvPr>
        </p:nvSpPr>
        <p:spPr>
          <a:xfrm>
            <a:off x="311754" y="445161"/>
            <a:ext cx="852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g2ad97f235b5_0_167"/>
          <p:cNvSpPr txBox="1">
            <a:spLocks noGrp="1"/>
          </p:cNvSpPr>
          <p:nvPr>
            <p:ph type="body" idx="1"/>
          </p:nvPr>
        </p:nvSpPr>
        <p:spPr>
          <a:xfrm>
            <a:off x="311754" y="1152828"/>
            <a:ext cx="8522100" cy="3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g2ad97f235b5_0_167"/>
          <p:cNvSpPr txBox="1">
            <a:spLocks noGrp="1"/>
          </p:cNvSpPr>
          <p:nvPr>
            <p:ph type="sldNum" idx="12"/>
          </p:nvPr>
        </p:nvSpPr>
        <p:spPr>
          <a:xfrm>
            <a:off x="8473917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585e5a41e_0_0"/>
          <p:cNvSpPr/>
          <p:nvPr/>
        </p:nvSpPr>
        <p:spPr>
          <a:xfrm>
            <a:off x="-1050025" y="1042200"/>
            <a:ext cx="7580100" cy="4102800"/>
          </a:xfrm>
          <a:prstGeom prst="parallelogram">
            <a:avLst>
              <a:gd name="adj" fmla="val 25000"/>
            </a:avLst>
          </a:prstGeom>
          <a:solidFill>
            <a:srgbClr val="48A8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26585e5a41e_0_0"/>
          <p:cNvSpPr txBox="1">
            <a:spLocks noGrp="1"/>
          </p:cNvSpPr>
          <p:nvPr>
            <p:ph type="ctrTitle"/>
          </p:nvPr>
        </p:nvSpPr>
        <p:spPr>
          <a:xfrm>
            <a:off x="455175" y="2359501"/>
            <a:ext cx="5605200" cy="14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 b="1" dirty="0" err="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Gojek</a:t>
            </a:r>
            <a:r>
              <a:rPr lang="en-US" sz="4800" b="1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 Sentiment Analysis</a:t>
            </a:r>
            <a:endParaRPr sz="4800" b="1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9" name="Google Shape;139;g26585e5a41e_0_0"/>
          <p:cNvSpPr txBox="1">
            <a:spLocks noGrp="1"/>
          </p:cNvSpPr>
          <p:nvPr>
            <p:ph type="subTitle" idx="1"/>
          </p:nvPr>
        </p:nvSpPr>
        <p:spPr>
          <a:xfrm>
            <a:off x="508650" y="3936443"/>
            <a:ext cx="47895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Wahyu Iqsam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140" name="Google Shape;140;g26585e5a41e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g26585e5a41e_0_0"/>
          <p:cNvCxnSpPr/>
          <p:nvPr/>
        </p:nvCxnSpPr>
        <p:spPr>
          <a:xfrm>
            <a:off x="609925" y="4433975"/>
            <a:ext cx="3933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" name="Google Shape;142;g26585e5a41e_0_0"/>
          <p:cNvSpPr/>
          <p:nvPr/>
        </p:nvSpPr>
        <p:spPr>
          <a:xfrm>
            <a:off x="1144250" y="4372475"/>
            <a:ext cx="611700" cy="123000"/>
          </a:xfrm>
          <a:prstGeom prst="roundRect">
            <a:avLst>
              <a:gd name="adj" fmla="val 50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26585e5a41e_0_0"/>
          <p:cNvSpPr/>
          <p:nvPr/>
        </p:nvSpPr>
        <p:spPr>
          <a:xfrm rot="-1974178">
            <a:off x="5563413" y="2328431"/>
            <a:ext cx="1120545" cy="1120545"/>
          </a:xfrm>
          <a:prstGeom prst="ellipse">
            <a:avLst/>
          </a:prstGeom>
          <a:solidFill>
            <a:srgbClr val="FFB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26585e5a41e_0_0"/>
          <p:cNvSpPr/>
          <p:nvPr/>
        </p:nvSpPr>
        <p:spPr>
          <a:xfrm rot="-3576283">
            <a:off x="4993794" y="3068971"/>
            <a:ext cx="3038762" cy="3137189"/>
          </a:xfrm>
          <a:prstGeom prst="ellipse">
            <a:avLst/>
          </a:prstGeom>
          <a:solidFill>
            <a:srgbClr val="F08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9;g26585e5a41e_0_0">
            <a:extLst>
              <a:ext uri="{FF2B5EF4-FFF2-40B4-BE49-F238E27FC236}">
                <a16:creationId xmlns:a16="http://schemas.microsoft.com/office/drawing/2014/main" id="{D0513AE0-3CA4-D961-BD54-1AF7E6239612}"/>
              </a:ext>
            </a:extLst>
          </p:cNvPr>
          <p:cNvSpPr txBox="1">
            <a:spLocks/>
          </p:cNvSpPr>
          <p:nvPr/>
        </p:nvSpPr>
        <p:spPr>
          <a:xfrm>
            <a:off x="507305" y="3524563"/>
            <a:ext cx="4789500" cy="26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</a:pPr>
            <a:r>
              <a:rPr lang="en-US" sz="900" dirty="0" err="1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Ulasan</a:t>
            </a:r>
            <a:r>
              <a:rPr lang="en-US" sz="900" dirty="0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 </a:t>
            </a:r>
            <a:r>
              <a:rPr lang="en-US" sz="900" dirty="0" err="1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dari</a:t>
            </a:r>
            <a:r>
              <a:rPr lang="en-US" sz="900" dirty="0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 </a:t>
            </a:r>
            <a:r>
              <a:rPr lang="en-US" sz="900" dirty="0" err="1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aplikasi</a:t>
            </a:r>
            <a:r>
              <a:rPr lang="en-US" sz="900" dirty="0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 </a:t>
            </a:r>
            <a:r>
              <a:rPr lang="en-US" sz="900" dirty="0" err="1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Gojek</a:t>
            </a:r>
            <a:r>
              <a:rPr lang="en-US" sz="900" dirty="0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 </a:t>
            </a:r>
            <a:r>
              <a:rPr lang="en-US" sz="900" dirty="0" err="1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versi</a:t>
            </a:r>
            <a:r>
              <a:rPr lang="en-US" sz="900" dirty="0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 4.0.0 </a:t>
            </a:r>
            <a:r>
              <a:rPr lang="en-US" sz="900" dirty="0" err="1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sampai</a:t>
            </a:r>
            <a:r>
              <a:rPr lang="en-US" sz="900" dirty="0">
                <a:solidFill>
                  <a:schemeClr val="lt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Plus Jakarta Sans"/>
              </a:rPr>
              <a:t> 4.9.3</a:t>
            </a:r>
            <a:endParaRPr lang="en-US" sz="900" dirty="0">
              <a:solidFill>
                <a:schemeClr val="lt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26585e5a41e_0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838" y="276722"/>
            <a:ext cx="1185011" cy="3587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26585e5a41e_0_24"/>
          <p:cNvSpPr txBox="1"/>
          <p:nvPr/>
        </p:nvSpPr>
        <p:spPr>
          <a:xfrm>
            <a:off x="503685" y="2926431"/>
            <a:ext cx="3000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48A8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Education</a:t>
            </a:r>
            <a:endParaRPr sz="1600" b="1" i="0" u="none" strike="noStrike" cap="none">
              <a:solidFill>
                <a:srgbClr val="48A8C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1" name="Google Shape;151;g26585e5a41e_0_24"/>
          <p:cNvSpPr txBox="1"/>
          <p:nvPr/>
        </p:nvSpPr>
        <p:spPr>
          <a:xfrm>
            <a:off x="503673" y="2327500"/>
            <a:ext cx="33279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Wahyu Iqsam</a:t>
            </a:r>
            <a:endParaRPr sz="3000" b="1" i="0" u="none" strike="noStrike" cap="none" dirty="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2" name="Google Shape;152;g26585e5a41e_0_24"/>
          <p:cNvSpPr txBox="1"/>
          <p:nvPr/>
        </p:nvSpPr>
        <p:spPr>
          <a:xfrm>
            <a:off x="503678" y="3344022"/>
            <a:ext cx="3078900" cy="3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id-ID" sz="900" b="0" i="1" u="none" strike="noStrike" cap="none" dirty="0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Data </a:t>
            </a:r>
            <a:r>
              <a:rPr lang="id-ID" sz="900" b="0" i="1" u="none" strike="noStrike" cap="none" dirty="0" err="1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Science</a:t>
            </a:r>
            <a:r>
              <a:rPr lang="id-ID" sz="900" b="0" i="1" u="none" strike="noStrike" cap="none" dirty="0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&amp; AI </a:t>
            </a:r>
            <a:r>
              <a:rPr lang="id-ID" sz="900" b="0" i="1" u="none" strike="noStrike" cap="none" dirty="0" err="1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Machine</a:t>
            </a:r>
            <a:r>
              <a:rPr lang="id-ID" sz="900" b="0" i="1" u="none" strike="noStrike" cap="none" dirty="0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id-ID" sz="900" b="0" i="1" u="none" strike="noStrike" cap="none" dirty="0" err="1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Learning</a:t>
            </a:r>
            <a:r>
              <a:rPr lang="id-ID" sz="900" b="0" i="1" u="none" strike="noStrike" cap="none" dirty="0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- Dibimbing</a:t>
            </a:r>
            <a:endParaRPr sz="900" b="0" i="1" u="none" strike="noStrike" cap="none" dirty="0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pic>
        <p:nvPicPr>
          <p:cNvPr id="153" name="Google Shape;153;g26585e5a41e_0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838" y="276722"/>
            <a:ext cx="1185011" cy="358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26585e5a41e_0_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g26585e5a41e_0_24"/>
          <p:cNvGrpSpPr/>
          <p:nvPr/>
        </p:nvGrpSpPr>
        <p:grpSpPr>
          <a:xfrm>
            <a:off x="4812258" y="2039725"/>
            <a:ext cx="3810072" cy="2674925"/>
            <a:chOff x="466625" y="2083326"/>
            <a:chExt cx="4728310" cy="2674925"/>
          </a:xfrm>
        </p:grpSpPr>
        <p:grpSp>
          <p:nvGrpSpPr>
            <p:cNvPr id="156" name="Google Shape;156;g26585e5a41e_0_24"/>
            <p:cNvGrpSpPr/>
            <p:nvPr/>
          </p:nvGrpSpPr>
          <p:grpSpPr>
            <a:xfrm>
              <a:off x="571335" y="2083326"/>
              <a:ext cx="4623600" cy="592958"/>
              <a:chOff x="571335" y="2048451"/>
              <a:chExt cx="4623600" cy="592958"/>
            </a:xfrm>
          </p:grpSpPr>
          <p:sp>
            <p:nvSpPr>
              <p:cNvPr id="157" name="Google Shape;157;g26585e5a41e_0_24"/>
              <p:cNvSpPr txBox="1"/>
              <p:nvPr/>
            </p:nvSpPr>
            <p:spPr>
              <a:xfrm>
                <a:off x="571335" y="2279751"/>
                <a:ext cx="4623600" cy="36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50" tIns="91450" rIns="91450" bIns="91450" anchor="t" anchorCtr="0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 dirty="0" err="1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Deskripsi</a:t>
                </a:r>
                <a:r>
                  <a:rPr lang="en-US" sz="1000" b="0" i="0" u="none" strike="noStrike" cap="none" dirty="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project</a:t>
                </a:r>
                <a:endParaRPr lang="en-US" sz="1000" b="0" i="0" u="none" strike="noStrike" cap="none" dirty="0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58" name="Google Shape;158;g26585e5a41e_0_24"/>
              <p:cNvSpPr txBox="1"/>
              <p:nvPr/>
            </p:nvSpPr>
            <p:spPr>
              <a:xfrm>
                <a:off x="571335" y="2048451"/>
                <a:ext cx="4623600" cy="3970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50" tIns="91450" rIns="91450" bIns="91450" anchor="t" anchorCtr="0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id-ID" sz="1200" b="1" i="0" u="none" strike="noStrike" cap="none" dirty="0">
                    <a:solidFill>
                      <a:srgbClr val="000000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Gojek </a:t>
                </a:r>
                <a:r>
                  <a:rPr lang="id-ID" sz="1200" b="1" i="0" u="none" strike="noStrike" cap="none" dirty="0" err="1">
                    <a:solidFill>
                      <a:srgbClr val="000000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App</a:t>
                </a:r>
                <a:r>
                  <a:rPr lang="id-ID" sz="1200" b="1" i="0" u="none" strike="noStrike" cap="none" dirty="0">
                    <a:solidFill>
                      <a:srgbClr val="000000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</a:t>
                </a:r>
                <a:r>
                  <a:rPr lang="id-ID" sz="1200" b="1" i="0" u="none" strike="noStrike" cap="none" dirty="0" err="1">
                    <a:solidFill>
                      <a:srgbClr val="000000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Sentiment</a:t>
                </a:r>
                <a:r>
                  <a:rPr lang="id-ID" sz="1200" b="1" i="0" u="none" strike="noStrike" cap="none" dirty="0">
                    <a:solidFill>
                      <a:srgbClr val="000000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</a:t>
                </a:r>
                <a:r>
                  <a:rPr lang="id-ID" sz="1200" b="1" i="0" u="none" strike="noStrike" cap="none" dirty="0" err="1">
                    <a:solidFill>
                      <a:srgbClr val="000000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Analysis</a:t>
                </a:r>
                <a:endParaRPr lang="id-ID" sz="1200" b="1" i="0" u="none" strike="noStrike" cap="none" dirty="0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159" name="Google Shape;159;g26585e5a41e_0_24"/>
            <p:cNvSpPr/>
            <p:nvPr/>
          </p:nvSpPr>
          <p:spPr>
            <a:xfrm>
              <a:off x="466625" y="2219450"/>
              <a:ext cx="104700" cy="104700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" name="Google Shape;160;g26585e5a41e_0_24"/>
            <p:cNvGrpSpPr/>
            <p:nvPr/>
          </p:nvGrpSpPr>
          <p:grpSpPr>
            <a:xfrm>
              <a:off x="571335" y="2780976"/>
              <a:ext cx="4623600" cy="570000"/>
              <a:chOff x="571335" y="2048451"/>
              <a:chExt cx="4623600" cy="570000"/>
            </a:xfrm>
          </p:grpSpPr>
          <p:sp>
            <p:nvSpPr>
              <p:cNvPr id="161" name="Google Shape;161;g26585e5a41e_0_24"/>
              <p:cNvSpPr txBox="1"/>
              <p:nvPr/>
            </p:nvSpPr>
            <p:spPr>
              <a:xfrm>
                <a:off x="571335" y="2279751"/>
                <a:ext cx="462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50" tIns="91450" rIns="91450" bIns="91450" anchor="t" anchorCtr="0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 dirty="0" err="1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Deskripsi</a:t>
                </a:r>
                <a:r>
                  <a:rPr lang="en-US" sz="1000" b="0" i="0" u="none" strike="noStrike" cap="none" dirty="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project</a:t>
                </a:r>
                <a:endParaRPr sz="1000" b="0" i="0" u="none" strike="noStrike" cap="none" dirty="0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62" name="Google Shape;162;g26585e5a41e_0_24"/>
              <p:cNvSpPr txBox="1"/>
              <p:nvPr/>
            </p:nvSpPr>
            <p:spPr>
              <a:xfrm>
                <a:off x="571335" y="2048451"/>
                <a:ext cx="46236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50" tIns="91450" rIns="91450" bIns="91450" anchor="t" anchorCtr="0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 dirty="0" err="1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Judul</a:t>
                </a:r>
                <a:r>
                  <a:rPr lang="en-US" sz="1200" b="1" i="0" u="none" strike="noStrike" cap="none" dirty="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Project 2</a:t>
                </a:r>
                <a:endParaRPr sz="1200" b="1" i="0" u="none" strike="noStrike" cap="none" dirty="0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163" name="Google Shape;163;g26585e5a41e_0_24"/>
            <p:cNvSpPr/>
            <p:nvPr/>
          </p:nvSpPr>
          <p:spPr>
            <a:xfrm>
              <a:off x="466625" y="2917100"/>
              <a:ext cx="104700" cy="104700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4" name="Google Shape;164;g26585e5a41e_0_24"/>
            <p:cNvGrpSpPr/>
            <p:nvPr/>
          </p:nvGrpSpPr>
          <p:grpSpPr>
            <a:xfrm>
              <a:off x="571335" y="3455726"/>
              <a:ext cx="4623600" cy="570000"/>
              <a:chOff x="571335" y="2048451"/>
              <a:chExt cx="4623600" cy="570000"/>
            </a:xfrm>
          </p:grpSpPr>
          <p:sp>
            <p:nvSpPr>
              <p:cNvPr id="165" name="Google Shape;165;g26585e5a41e_0_24"/>
              <p:cNvSpPr txBox="1"/>
              <p:nvPr/>
            </p:nvSpPr>
            <p:spPr>
              <a:xfrm>
                <a:off x="571335" y="2279751"/>
                <a:ext cx="462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50" tIns="91450" rIns="91450" bIns="91450" anchor="t" anchorCtr="0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Deskripsi project</a:t>
                </a:r>
                <a:endParaRPr sz="1000" b="0" i="0" u="none" strike="noStrike" cap="non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66" name="Google Shape;166;g26585e5a41e_0_24"/>
              <p:cNvSpPr txBox="1"/>
              <p:nvPr/>
            </p:nvSpPr>
            <p:spPr>
              <a:xfrm>
                <a:off x="571335" y="2048451"/>
                <a:ext cx="46236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50" tIns="91450" rIns="91450" bIns="91450" anchor="t" anchorCtr="0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Judul Project 3</a:t>
                </a:r>
                <a:endParaRPr sz="1200" b="1" i="0" u="none" strike="noStrike" cap="non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167" name="Google Shape;167;g26585e5a41e_0_24"/>
            <p:cNvSpPr/>
            <p:nvPr/>
          </p:nvSpPr>
          <p:spPr>
            <a:xfrm>
              <a:off x="466625" y="3591850"/>
              <a:ext cx="104700" cy="104700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" name="Google Shape;168;g26585e5a41e_0_24"/>
            <p:cNvGrpSpPr/>
            <p:nvPr/>
          </p:nvGrpSpPr>
          <p:grpSpPr>
            <a:xfrm>
              <a:off x="571335" y="4188251"/>
              <a:ext cx="4623600" cy="570000"/>
              <a:chOff x="571335" y="2048451"/>
              <a:chExt cx="4623600" cy="570000"/>
            </a:xfrm>
          </p:grpSpPr>
          <p:sp>
            <p:nvSpPr>
              <p:cNvPr id="169" name="Google Shape;169;g26585e5a41e_0_24"/>
              <p:cNvSpPr txBox="1"/>
              <p:nvPr/>
            </p:nvSpPr>
            <p:spPr>
              <a:xfrm>
                <a:off x="571335" y="2279751"/>
                <a:ext cx="462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50" tIns="91450" rIns="91450" bIns="91450" anchor="t" anchorCtr="0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Deskripsi project</a:t>
                </a:r>
                <a:endParaRPr sz="1000" b="0" i="0" u="none" strike="noStrike" cap="non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70" name="Google Shape;170;g26585e5a41e_0_24"/>
              <p:cNvSpPr txBox="1"/>
              <p:nvPr/>
            </p:nvSpPr>
            <p:spPr>
              <a:xfrm>
                <a:off x="571335" y="2048451"/>
                <a:ext cx="46236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50" tIns="91450" rIns="91450" bIns="91450" anchor="t" anchorCtr="0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Judul Project 4</a:t>
                </a:r>
                <a:endParaRPr sz="1200" b="1" i="0" u="none" strike="noStrike" cap="non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171" name="Google Shape;171;g26585e5a41e_0_24"/>
            <p:cNvSpPr/>
            <p:nvPr/>
          </p:nvSpPr>
          <p:spPr>
            <a:xfrm>
              <a:off x="466625" y="4324375"/>
              <a:ext cx="104700" cy="104700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g26585e5a41e_0_24"/>
          <p:cNvSpPr/>
          <p:nvPr/>
        </p:nvSpPr>
        <p:spPr>
          <a:xfrm rot="-3576382">
            <a:off x="-547808" y="-2388310"/>
            <a:ext cx="3914117" cy="3914117"/>
          </a:xfrm>
          <a:prstGeom prst="ellipse">
            <a:avLst/>
          </a:prstGeom>
          <a:solidFill>
            <a:srgbClr val="F08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26585e5a41e_0_24"/>
          <p:cNvSpPr/>
          <p:nvPr/>
        </p:nvSpPr>
        <p:spPr>
          <a:xfrm rot="-4242470">
            <a:off x="8039051" y="2355356"/>
            <a:ext cx="2301858" cy="2301858"/>
          </a:xfrm>
          <a:prstGeom prst="ellipse">
            <a:avLst/>
          </a:prstGeom>
          <a:solidFill>
            <a:srgbClr val="48A8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26585e5a41e_0_24"/>
          <p:cNvSpPr/>
          <p:nvPr/>
        </p:nvSpPr>
        <p:spPr>
          <a:xfrm rot="-1974178">
            <a:off x="8406288" y="4307981"/>
            <a:ext cx="1120545" cy="1120545"/>
          </a:xfrm>
          <a:prstGeom prst="ellipse">
            <a:avLst/>
          </a:prstGeom>
          <a:solidFill>
            <a:srgbClr val="FFB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g26585e5a41e_0_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800" y="308725"/>
            <a:ext cx="1734900" cy="1734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6" name="Google Shape;176;g26585e5a41e_0_24"/>
          <p:cNvSpPr txBox="1"/>
          <p:nvPr/>
        </p:nvSpPr>
        <p:spPr>
          <a:xfrm>
            <a:off x="503685" y="3764631"/>
            <a:ext cx="3000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48A8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Working</a:t>
            </a:r>
            <a:endParaRPr sz="1600" b="1" i="0" u="none" strike="noStrike" cap="none">
              <a:solidFill>
                <a:srgbClr val="48A8C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8" name="Google Shape;178;g26585e5a41e_0_24"/>
          <p:cNvSpPr txBox="1"/>
          <p:nvPr/>
        </p:nvSpPr>
        <p:spPr>
          <a:xfrm>
            <a:off x="4812260" y="1498381"/>
            <a:ext cx="3000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48A8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Overview Project</a:t>
            </a:r>
            <a:endParaRPr sz="1600" b="1" i="0" u="none" strike="noStrike" cap="none">
              <a:solidFill>
                <a:srgbClr val="48A8C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" name="Google Shape;152;g26585e5a41e_0_24">
            <a:extLst>
              <a:ext uri="{FF2B5EF4-FFF2-40B4-BE49-F238E27FC236}">
                <a16:creationId xmlns:a16="http://schemas.microsoft.com/office/drawing/2014/main" id="{FEF8794C-9CEA-88CE-C242-A97114146F0F}"/>
              </a:ext>
            </a:extLst>
          </p:cNvPr>
          <p:cNvSpPr txBox="1"/>
          <p:nvPr/>
        </p:nvSpPr>
        <p:spPr>
          <a:xfrm>
            <a:off x="503678" y="3529807"/>
            <a:ext cx="3078900" cy="50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id-ID" sz="900" b="0" i="1" u="none" strike="noStrike" cap="none" dirty="0" err="1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Communication</a:t>
            </a:r>
            <a:r>
              <a:rPr lang="id-ID" sz="900" b="0" i="1" u="none" strike="noStrike" cap="none" dirty="0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id-ID" sz="900" b="0" i="1" u="none" strike="noStrike" cap="none" dirty="0" err="1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Science</a:t>
            </a:r>
            <a:r>
              <a:rPr lang="id-ID" sz="900" b="0" i="1" u="none" strike="noStrike" cap="none" dirty="0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id-ID" sz="900" b="0" i="1" u="none" strike="noStrike" cap="none" dirty="0" err="1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Bachelor’s</a:t>
            </a:r>
            <a:r>
              <a:rPr lang="id-ID" sz="900" b="0" i="1" u="none" strike="noStrike" cap="none" dirty="0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id-ID" sz="900" b="0" i="1" u="none" strike="noStrike" cap="none" dirty="0" err="1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Degree</a:t>
            </a:r>
            <a:r>
              <a:rPr lang="id-ID" sz="900" i="1" dirty="0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- </a:t>
            </a:r>
            <a:r>
              <a:rPr lang="id-ID" sz="900" b="0" i="1" u="none" strike="noStrike" cap="none" dirty="0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Budi Luhur </a:t>
            </a:r>
            <a:r>
              <a:rPr lang="id-ID" sz="900" b="0" i="1" u="none" strike="noStrike" cap="none" dirty="0" err="1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University</a:t>
            </a:r>
            <a:endParaRPr sz="900" b="0" i="1" u="none" strike="noStrike" cap="none" dirty="0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A8C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6585e5a41e_0_43"/>
          <p:cNvSpPr/>
          <p:nvPr/>
        </p:nvSpPr>
        <p:spPr>
          <a:xfrm>
            <a:off x="-1050025" y="1135575"/>
            <a:ext cx="5007900" cy="4009500"/>
          </a:xfrm>
          <a:prstGeom prst="parallelogram">
            <a:avLst>
              <a:gd name="adj" fmla="val 25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26585e5a41e_0_43"/>
          <p:cNvSpPr/>
          <p:nvPr/>
        </p:nvSpPr>
        <p:spPr>
          <a:xfrm>
            <a:off x="1231875" y="3379605"/>
            <a:ext cx="2726100" cy="1765500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26585e5a41e_0_43"/>
          <p:cNvSpPr/>
          <p:nvPr/>
        </p:nvSpPr>
        <p:spPr>
          <a:xfrm>
            <a:off x="2300550" y="3923775"/>
            <a:ext cx="1853100" cy="1221300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26585e5a41e_0_43"/>
          <p:cNvSpPr txBox="1">
            <a:spLocks noGrp="1"/>
          </p:cNvSpPr>
          <p:nvPr>
            <p:ph type="ctrTitle"/>
          </p:nvPr>
        </p:nvSpPr>
        <p:spPr>
          <a:xfrm>
            <a:off x="4776450" y="2352200"/>
            <a:ext cx="40344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 b="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</a:t>
            </a:r>
            <a:endParaRPr sz="4800"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87" name="Google Shape;187;g26585e5a41e_0_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838" y="276722"/>
            <a:ext cx="1185011" cy="35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26585e5a41e_0_3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26585e5a41e_0_306"/>
          <p:cNvSpPr txBox="1"/>
          <p:nvPr/>
        </p:nvSpPr>
        <p:spPr>
          <a:xfrm>
            <a:off x="1052894" y="791636"/>
            <a:ext cx="7039800" cy="3561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algn="just"/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Gojek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sebagai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super-app di Indonesia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menerima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ulasan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yang sangat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banyak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setiap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harinya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.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Perubahan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kebijakan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,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gangguan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layanan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,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maupun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pembaruan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fitur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dapat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memicu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lonjakan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ulasan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. *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Contoh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terbaru</a:t>
            </a:r>
            <a:r>
              <a:rPr lang="en-ID" sz="2000" dirty="0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terjadi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pada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kebijakan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penghapusan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program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GoRide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Hemat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*</a:t>
            </a:r>
            <a:r>
              <a:rPr lang="en-ID" sz="2000" dirty="0">
                <a:solidFill>
                  <a:schemeClr val="tx1"/>
                </a:solidFill>
                <a:latin typeface="Plus Jakarta Sans" panose="020B0604020202020204" charset="0"/>
                <a:cs typeface="Plus Jakarta Sans" panose="020B0604020202020204" charset="0"/>
              </a:rPr>
              <a:t>.</a:t>
            </a:r>
          </a:p>
          <a:p>
            <a:pPr algn="just"/>
            <a:endParaRPr lang="en-ID" sz="2000" b="0" dirty="0">
              <a:solidFill>
                <a:schemeClr val="tx1"/>
              </a:solidFill>
              <a:effectLst/>
              <a:latin typeface="Plus Jakarta Sans" panose="020B0604020202020204" charset="0"/>
              <a:cs typeface="Plus Jakarta Sans" panose="020B0604020202020204" charset="0"/>
            </a:endParaRPr>
          </a:p>
          <a:p>
            <a:pPr algn="just"/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Proyek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ini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membangun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sistem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klasifikasi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sentiment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otomasis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</a:t>
            </a:r>
            <a:r>
              <a:rPr lang="en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berbasis</a:t>
            </a:r>
            <a:r>
              <a:rPr lang="en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LSTM</a:t>
            </a:r>
            <a:r>
              <a:rPr lang="id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untuk mendeteksi pergeseran opini pengguna secara real-</a:t>
            </a:r>
            <a:r>
              <a:rPr lang="id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time</a:t>
            </a:r>
            <a:r>
              <a:rPr lang="id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, membantu tim merespons lebih cepat sebelum </a:t>
            </a:r>
            <a:r>
              <a:rPr lang="id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sentiment</a:t>
            </a:r>
            <a:r>
              <a:rPr lang="id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 negatif berdampak pada reputasi </a:t>
            </a:r>
            <a:r>
              <a:rPr lang="id-ID" sz="2000" b="0" dirty="0" err="1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brand</a:t>
            </a:r>
            <a:r>
              <a:rPr lang="id-ID" sz="2000" b="0" dirty="0">
                <a:solidFill>
                  <a:schemeClr val="tx1"/>
                </a:solidFill>
                <a:effectLst/>
                <a:latin typeface="Plus Jakarta Sans" panose="020B0604020202020204" charset="0"/>
                <a:cs typeface="Plus Jakarta Sans" panose="020B0604020202020204" charset="0"/>
              </a:rPr>
              <a:t>.</a:t>
            </a:r>
            <a:endParaRPr lang="en-ID" sz="2000" b="0" dirty="0">
              <a:solidFill>
                <a:schemeClr val="tx1"/>
              </a:solidFill>
              <a:effectLst/>
              <a:latin typeface="Plus Jakarta Sans" panose="020B0604020202020204" charset="0"/>
              <a:cs typeface="Plus Jakarta Sans" panose="020B0604020202020204" charset="0"/>
            </a:endParaRPr>
          </a:p>
        </p:txBody>
      </p:sp>
      <p:sp>
        <p:nvSpPr>
          <p:cNvPr id="2" name="Google Shape;193;g26585e5a41e_0_306">
            <a:extLst>
              <a:ext uri="{FF2B5EF4-FFF2-40B4-BE49-F238E27FC236}">
                <a16:creationId xmlns:a16="http://schemas.microsoft.com/office/drawing/2014/main" id="{D0A66FF9-1C1F-CAE4-817B-5A598AFF7006}"/>
              </a:ext>
            </a:extLst>
          </p:cNvPr>
          <p:cNvSpPr txBox="1"/>
          <p:nvPr/>
        </p:nvSpPr>
        <p:spPr>
          <a:xfrm>
            <a:off x="858429" y="4699216"/>
            <a:ext cx="7428731" cy="29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d-ID" sz="700" b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</a:t>
            </a:r>
            <a:r>
              <a:rPr lang="id-ID" sz="7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memberikan ulasan di </a:t>
            </a:r>
            <a:r>
              <a:rPr lang="id-ID" sz="700" b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Play</a:t>
            </a:r>
            <a:r>
              <a:rPr lang="id-ID" sz="7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Store -&gt; Sistem otomatis klasifikasi </a:t>
            </a:r>
            <a:r>
              <a:rPr lang="id-ID" sz="700" b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Positive</a:t>
            </a:r>
            <a:r>
              <a:rPr lang="id-ID" sz="7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</a:t>
            </a:r>
            <a:r>
              <a:rPr lang="id-ID" sz="700" b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Negative</a:t>
            </a:r>
            <a:r>
              <a:rPr lang="id-ID" sz="7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-&gt; </a:t>
            </a:r>
            <a:r>
              <a:rPr lang="id-ID" sz="700" b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Alert</a:t>
            </a:r>
            <a:r>
              <a:rPr lang="id-ID" sz="7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id-ID" sz="700" b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Monitoring</a:t>
            </a:r>
            <a:r>
              <a:rPr lang="id-ID" sz="7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-&gt; </a:t>
            </a:r>
            <a:r>
              <a:rPr lang="id-ID" sz="700" b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Sentiment</a:t>
            </a:r>
            <a:r>
              <a:rPr lang="id-ID" sz="7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id-ID" sz="700" b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Negative</a:t>
            </a:r>
            <a:r>
              <a:rPr lang="id-ID" sz="7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-&gt; Sinyal -&gt; Investigasi &amp; </a:t>
            </a:r>
            <a:r>
              <a:rPr lang="id-ID" sz="700" b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</a:t>
            </a:r>
            <a:r>
              <a:rPr lang="id-ID" sz="7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cepat</a:t>
            </a:r>
            <a:endParaRPr lang="en-US" sz="700" b="1" i="0" u="none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" name="Google Shape;141;g26585e5a41e_0_0">
            <a:extLst>
              <a:ext uri="{FF2B5EF4-FFF2-40B4-BE49-F238E27FC236}">
                <a16:creationId xmlns:a16="http://schemas.microsoft.com/office/drawing/2014/main" id="{FAA3E8F4-88BC-36AC-0ECF-9890FBB0C777}"/>
              </a:ext>
            </a:extLst>
          </p:cNvPr>
          <p:cNvCxnSpPr>
            <a:cxnSpLocks/>
          </p:cNvCxnSpPr>
          <p:nvPr/>
        </p:nvCxnSpPr>
        <p:spPr>
          <a:xfrm>
            <a:off x="1209766" y="4699216"/>
            <a:ext cx="6726056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A8C4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7348ee98e6_0_22"/>
          <p:cNvSpPr/>
          <p:nvPr/>
        </p:nvSpPr>
        <p:spPr>
          <a:xfrm>
            <a:off x="-1050025" y="1135575"/>
            <a:ext cx="5007900" cy="4009500"/>
          </a:xfrm>
          <a:prstGeom prst="parallelogram">
            <a:avLst>
              <a:gd name="adj" fmla="val 25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27348ee98e6_0_22"/>
          <p:cNvSpPr/>
          <p:nvPr/>
        </p:nvSpPr>
        <p:spPr>
          <a:xfrm>
            <a:off x="1231875" y="3379605"/>
            <a:ext cx="2726100" cy="1765500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27348ee98e6_0_22"/>
          <p:cNvSpPr/>
          <p:nvPr/>
        </p:nvSpPr>
        <p:spPr>
          <a:xfrm>
            <a:off x="2300550" y="3923775"/>
            <a:ext cx="1853100" cy="1221300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27348ee98e6_0_22"/>
          <p:cNvSpPr txBox="1">
            <a:spLocks noGrp="1"/>
          </p:cNvSpPr>
          <p:nvPr>
            <p:ph type="ctrTitle"/>
          </p:nvPr>
        </p:nvSpPr>
        <p:spPr>
          <a:xfrm>
            <a:off x="4473325" y="2352200"/>
            <a:ext cx="43374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ct val="37500"/>
              <a:buNone/>
            </a:pPr>
            <a:r>
              <a:rPr lang="en-US" sz="4800" b="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Understanding</a:t>
            </a:r>
            <a:endParaRPr sz="4800"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02" name="Google Shape;202;g27348ee98e6_0_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838" y="276722"/>
            <a:ext cx="1185011" cy="35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27348ee98e6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27348ee98e6_0_30"/>
          <p:cNvSpPr txBox="1"/>
          <p:nvPr/>
        </p:nvSpPr>
        <p:spPr>
          <a:xfrm>
            <a:off x="1052894" y="580693"/>
            <a:ext cx="7039800" cy="1046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diambil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dari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Kaggle </a:t>
            </a:r>
            <a:r>
              <a:rPr lang="en-US" sz="2000" b="1" i="0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</a:t>
            </a:r>
            <a:r>
              <a:rPr lang="en-US" sz="2000" b="1" i="0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Gojek</a:t>
            </a:r>
            <a:r>
              <a:rPr lang="en-US" sz="2000" b="1" i="0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 Reviews Bahasa Indonesia oleh Ari Zidane)</a:t>
            </a:r>
            <a:r>
              <a:rPr lang="en-US" sz="2000" i="0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yang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tersedia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secara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publik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Struktur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terdiri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dari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225.002 baris dan 5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kolom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2000" i="1" u="none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ABBD2961-5EF4-1E84-4E56-81B6CB150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48772"/>
              </p:ext>
            </p:extLst>
          </p:nvPr>
        </p:nvGraphicFramePr>
        <p:xfrm>
          <a:off x="2075645" y="1803976"/>
          <a:ext cx="4994298" cy="2159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33680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1233055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  <a:gridCol w="2327563">
                  <a:extLst>
                    <a:ext uri="{9D8B030D-6E8A-4147-A177-3AD203B41FA5}">
                      <a16:colId xmlns:a16="http://schemas.microsoft.com/office/drawing/2014/main" val="148336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Kolom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Tipe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Keterangan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Content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String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Teks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ulasan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pengguna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Score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Integer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Rating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bitang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(1 – 5)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Datetime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Tanggal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ulasan</a:t>
                      </a:r>
                      <a:endParaRPr lang="en-US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Username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String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Nama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pengguna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347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Appversion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String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Versi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aplikasi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4417557"/>
                  </a:ext>
                </a:extLst>
              </a:tr>
            </a:tbl>
          </a:graphicData>
        </a:graphic>
      </p:graphicFrame>
      <p:sp>
        <p:nvSpPr>
          <p:cNvPr id="4" name="Google Shape;208;g27348ee98e6_0_30">
            <a:extLst>
              <a:ext uri="{FF2B5EF4-FFF2-40B4-BE49-F238E27FC236}">
                <a16:creationId xmlns:a16="http://schemas.microsoft.com/office/drawing/2014/main" id="{18411479-8454-0C42-CDBC-F2A946455CE5}"/>
              </a:ext>
            </a:extLst>
          </p:cNvPr>
          <p:cNvSpPr txBox="1"/>
          <p:nvPr/>
        </p:nvSpPr>
        <p:spPr>
          <a:xfrm>
            <a:off x="1052894" y="4062637"/>
            <a:ext cx="7039800" cy="80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tergolong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bersih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hanya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ditemukan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 missing value pada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kolom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content dan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duplikasi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dataset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memerlukan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penanganan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 yang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berat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i="1" u="none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A8C4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7348ee98e6_0_37"/>
          <p:cNvSpPr/>
          <p:nvPr/>
        </p:nvSpPr>
        <p:spPr>
          <a:xfrm>
            <a:off x="-1050025" y="1135575"/>
            <a:ext cx="5007900" cy="4009500"/>
          </a:xfrm>
          <a:prstGeom prst="parallelogram">
            <a:avLst>
              <a:gd name="adj" fmla="val 25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27348ee98e6_0_37"/>
          <p:cNvSpPr/>
          <p:nvPr/>
        </p:nvSpPr>
        <p:spPr>
          <a:xfrm>
            <a:off x="1231875" y="3379605"/>
            <a:ext cx="2726100" cy="1765500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27348ee98e6_0_37"/>
          <p:cNvSpPr/>
          <p:nvPr/>
        </p:nvSpPr>
        <p:spPr>
          <a:xfrm>
            <a:off x="2300550" y="3923775"/>
            <a:ext cx="1853100" cy="1221300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27348ee98e6_0_37"/>
          <p:cNvSpPr txBox="1">
            <a:spLocks noGrp="1"/>
          </p:cNvSpPr>
          <p:nvPr>
            <p:ph type="ctrTitle"/>
          </p:nvPr>
        </p:nvSpPr>
        <p:spPr>
          <a:xfrm>
            <a:off x="4473325" y="2352200"/>
            <a:ext cx="43374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ct val="37500"/>
              <a:buNone/>
            </a:pPr>
            <a:r>
              <a:rPr lang="en-US" sz="4800" b="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Data Analysis and Visualisations</a:t>
            </a:r>
            <a:endParaRPr sz="4800"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17" name="Google Shape;217;g27348ee98e6_0_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838" y="276722"/>
            <a:ext cx="1185011" cy="35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27348ee98e6_0_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27348ee98e6_0_45"/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000" b="1" i="0" strike="noStrike" cap="none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DISTRIBUSI SCORE &amp; SENTIMENT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5" name="Bagan 4">
            <a:extLst>
              <a:ext uri="{FF2B5EF4-FFF2-40B4-BE49-F238E27FC236}">
                <a16:creationId xmlns:a16="http://schemas.microsoft.com/office/drawing/2014/main" id="{D1368A16-4F5D-ABBB-3C20-16C2B2BCDD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5199806"/>
              </p:ext>
            </p:extLst>
          </p:nvPr>
        </p:nvGraphicFramePr>
        <p:xfrm>
          <a:off x="461838" y="783089"/>
          <a:ext cx="4059912" cy="3371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Bagan 7">
            <a:extLst>
              <a:ext uri="{FF2B5EF4-FFF2-40B4-BE49-F238E27FC236}">
                <a16:creationId xmlns:a16="http://schemas.microsoft.com/office/drawing/2014/main" id="{279EA1EC-2A83-026D-A171-3374419376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9695501"/>
              </p:ext>
            </p:extLst>
          </p:nvPr>
        </p:nvGraphicFramePr>
        <p:xfrm>
          <a:off x="4623838" y="783089"/>
          <a:ext cx="4059912" cy="3371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Kotak Teks 8">
            <a:extLst>
              <a:ext uri="{FF2B5EF4-FFF2-40B4-BE49-F238E27FC236}">
                <a16:creationId xmlns:a16="http://schemas.microsoft.com/office/drawing/2014/main" id="{BC53FE18-5F6B-F492-8922-BB5B7B7CAC58}"/>
              </a:ext>
            </a:extLst>
          </p:cNvPr>
          <p:cNvSpPr txBox="1"/>
          <p:nvPr/>
        </p:nvSpPr>
        <p:spPr>
          <a:xfrm>
            <a:off x="1032163" y="2687782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u="sng" dirty="0">
                <a:latin typeface="Plus Jakarta Sans" panose="020B0604020202020204" charset="0"/>
                <a:cs typeface="Plus Jakarta Sans" panose="020B0604020202020204" charset="0"/>
              </a:rPr>
              <a:t>42.229</a:t>
            </a:r>
          </a:p>
        </p:txBody>
      </p:sp>
      <p:sp>
        <p:nvSpPr>
          <p:cNvPr id="10" name="Kotak Teks 9">
            <a:extLst>
              <a:ext uri="{FF2B5EF4-FFF2-40B4-BE49-F238E27FC236}">
                <a16:creationId xmlns:a16="http://schemas.microsoft.com/office/drawing/2014/main" id="{DFF2F3FA-24DD-19F4-2B7D-6DC64956EB8E}"/>
              </a:ext>
            </a:extLst>
          </p:cNvPr>
          <p:cNvSpPr txBox="1"/>
          <p:nvPr/>
        </p:nvSpPr>
        <p:spPr>
          <a:xfrm>
            <a:off x="1937612" y="3228109"/>
            <a:ext cx="4780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u="sng" dirty="0">
                <a:latin typeface="Plus Jakarta Sans" panose="020B0604020202020204" charset="0"/>
                <a:cs typeface="Plus Jakarta Sans" panose="020B0604020202020204" charset="0"/>
              </a:rPr>
              <a:t>8.942</a:t>
            </a:r>
          </a:p>
        </p:txBody>
      </p:sp>
      <p:sp>
        <p:nvSpPr>
          <p:cNvPr id="11" name="Kotak Teks 10">
            <a:extLst>
              <a:ext uri="{FF2B5EF4-FFF2-40B4-BE49-F238E27FC236}">
                <a16:creationId xmlns:a16="http://schemas.microsoft.com/office/drawing/2014/main" id="{6E16E65B-00ED-4A66-4097-DF79A90066E6}"/>
              </a:ext>
            </a:extLst>
          </p:cNvPr>
          <p:cNvSpPr txBox="1"/>
          <p:nvPr/>
        </p:nvSpPr>
        <p:spPr>
          <a:xfrm>
            <a:off x="2810449" y="3148796"/>
            <a:ext cx="4988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u="sng" dirty="0">
                <a:latin typeface="Plus Jakarta Sans" panose="020B0604020202020204" charset="0"/>
                <a:cs typeface="Plus Jakarta Sans" panose="020B0604020202020204" charset="0"/>
              </a:rPr>
              <a:t>14.315</a:t>
            </a:r>
          </a:p>
        </p:txBody>
      </p:sp>
      <p:sp>
        <p:nvSpPr>
          <p:cNvPr id="12" name="Kotak Teks 11">
            <a:extLst>
              <a:ext uri="{FF2B5EF4-FFF2-40B4-BE49-F238E27FC236}">
                <a16:creationId xmlns:a16="http://schemas.microsoft.com/office/drawing/2014/main" id="{8722B753-AFA8-1133-10A5-3E86BC3906DA}"/>
              </a:ext>
            </a:extLst>
          </p:cNvPr>
          <p:cNvSpPr txBox="1"/>
          <p:nvPr/>
        </p:nvSpPr>
        <p:spPr>
          <a:xfrm>
            <a:off x="3683285" y="1161641"/>
            <a:ext cx="5918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u="sng" dirty="0">
                <a:latin typeface="Plus Jakarta Sans" panose="020B0604020202020204" charset="0"/>
                <a:cs typeface="Plus Jakarta Sans" panose="020B0604020202020204" charset="0"/>
              </a:rPr>
              <a:t>147.054</a:t>
            </a:r>
          </a:p>
        </p:txBody>
      </p:sp>
      <p:sp>
        <p:nvSpPr>
          <p:cNvPr id="13" name="Kotak Teks 12">
            <a:extLst>
              <a:ext uri="{FF2B5EF4-FFF2-40B4-BE49-F238E27FC236}">
                <a16:creationId xmlns:a16="http://schemas.microsoft.com/office/drawing/2014/main" id="{6596A414-E7E0-661A-FBBD-905643498317}"/>
              </a:ext>
            </a:extLst>
          </p:cNvPr>
          <p:cNvSpPr txBox="1"/>
          <p:nvPr/>
        </p:nvSpPr>
        <p:spPr>
          <a:xfrm>
            <a:off x="5597238" y="1303998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u="sng" dirty="0">
                <a:latin typeface="Plus Jakarta Sans" panose="020B0604020202020204" charset="0"/>
                <a:cs typeface="Plus Jakarta Sans" panose="020B0604020202020204" charset="0"/>
              </a:rPr>
              <a:t>43.079</a:t>
            </a:r>
          </a:p>
        </p:txBody>
      </p:sp>
      <p:sp>
        <p:nvSpPr>
          <p:cNvPr id="14" name="Kotak Teks 13">
            <a:extLst>
              <a:ext uri="{FF2B5EF4-FFF2-40B4-BE49-F238E27FC236}">
                <a16:creationId xmlns:a16="http://schemas.microsoft.com/office/drawing/2014/main" id="{B1FDCF88-6582-4C57-ECE9-11FE2C4E8534}"/>
              </a:ext>
            </a:extLst>
          </p:cNvPr>
          <p:cNvSpPr txBox="1"/>
          <p:nvPr/>
        </p:nvSpPr>
        <p:spPr>
          <a:xfrm>
            <a:off x="7370021" y="1303998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u="sng" dirty="0">
                <a:latin typeface="Plus Jakarta Sans" panose="020B0604020202020204" charset="0"/>
                <a:cs typeface="Plus Jakarta Sans" panose="020B0604020202020204" charset="0"/>
              </a:rPr>
              <a:t>43.079</a:t>
            </a:r>
          </a:p>
        </p:txBody>
      </p:sp>
      <p:sp>
        <p:nvSpPr>
          <p:cNvPr id="15" name="Google Shape;223;g27348ee98e6_0_45">
            <a:extLst>
              <a:ext uri="{FF2B5EF4-FFF2-40B4-BE49-F238E27FC236}">
                <a16:creationId xmlns:a16="http://schemas.microsoft.com/office/drawing/2014/main" id="{25C1E441-821A-9C95-2048-1140F9F4C1D0}"/>
              </a:ext>
            </a:extLst>
          </p:cNvPr>
          <p:cNvSpPr txBox="1"/>
          <p:nvPr/>
        </p:nvSpPr>
        <p:spPr>
          <a:xfrm>
            <a:off x="453387" y="4197611"/>
            <a:ext cx="8238815" cy="670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Setelah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proses labeling dan balanced sampling, dataset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dibagi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menjadi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dua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kelas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yang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seimbang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– 43.079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ulasan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positif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43.079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ulasan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negatif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Dilakukan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penyeimbangan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 agar </a:t>
            </a: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nanti 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bias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terhadap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satu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kelas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200" i="1" u="none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7" name="Konektor Lurus 16">
            <a:extLst>
              <a:ext uri="{FF2B5EF4-FFF2-40B4-BE49-F238E27FC236}">
                <a16:creationId xmlns:a16="http://schemas.microsoft.com/office/drawing/2014/main" id="{FDAA3574-5398-9457-83B9-E5B32ADAF4B8}"/>
              </a:ext>
            </a:extLst>
          </p:cNvPr>
          <p:cNvCxnSpPr>
            <a:cxnSpLocks/>
          </p:cNvCxnSpPr>
          <p:nvPr/>
        </p:nvCxnSpPr>
        <p:spPr>
          <a:xfrm flipV="1">
            <a:off x="4572794" y="1135705"/>
            <a:ext cx="0" cy="2487259"/>
          </a:xfrm>
          <a:prstGeom prst="line">
            <a:avLst/>
          </a:prstGeom>
          <a:ln w="19050" cap="flat" cmpd="sng" algn="ctr">
            <a:solidFill>
              <a:srgbClr val="26262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27348ee98e6_0_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27348ee98e6_0_45"/>
          <p:cNvSpPr txBox="1"/>
          <p:nvPr/>
        </p:nvSpPr>
        <p:spPr>
          <a:xfrm>
            <a:off x="1052894" y="4154204"/>
            <a:ext cx="7039800" cy="8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Mayoritas ulasan dari pengguna Gojek bersifat singkat, dengan rata-rata panjang teks seluruh ulasan hanya 7 kata per ulasan setelah </a:t>
            </a:r>
            <a:r>
              <a:rPr lang="id-ID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preprocessing</a:t>
            </a: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Distribusi panjang teks antara kelas positif dan negatif menunjukkan pola serupa, dengan sebagian besar ulasan berada di bawah 20 kata.</a:t>
            </a:r>
            <a:endParaRPr sz="1200" i="1" u="none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" name="Google Shape;223;g27348ee98e6_0_45">
            <a:extLst>
              <a:ext uri="{FF2B5EF4-FFF2-40B4-BE49-F238E27FC236}">
                <a16:creationId xmlns:a16="http://schemas.microsoft.com/office/drawing/2014/main" id="{5F68E735-553A-9CCE-6168-EB74F85EAACB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lang="en-US" sz="2000" b="1" i="0" strike="noStrike" cap="none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DISTRIBUSI PANJANG TEKS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8" name="Gambar 7">
            <a:extLst>
              <a:ext uri="{FF2B5EF4-FFF2-40B4-BE49-F238E27FC236}">
                <a16:creationId xmlns:a16="http://schemas.microsoft.com/office/drawing/2014/main" id="{29AA99D8-02C5-E1F7-C1B2-7E2EE96ACA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8" t="5827"/>
          <a:stretch/>
        </p:blipFill>
        <p:spPr>
          <a:xfrm>
            <a:off x="1870399" y="758104"/>
            <a:ext cx="5404791" cy="2559270"/>
          </a:xfrm>
          <a:prstGeom prst="rect">
            <a:avLst/>
          </a:prstGeom>
        </p:spPr>
      </p:pic>
      <p:graphicFrame>
        <p:nvGraphicFramePr>
          <p:cNvPr id="9" name="Tabel 8">
            <a:extLst>
              <a:ext uri="{FF2B5EF4-FFF2-40B4-BE49-F238E27FC236}">
                <a16:creationId xmlns:a16="http://schemas.microsoft.com/office/drawing/2014/main" id="{0DAA2F71-8058-529E-C8BF-3E59600DC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421709"/>
              </p:ext>
            </p:extLst>
          </p:nvPr>
        </p:nvGraphicFramePr>
        <p:xfrm>
          <a:off x="790319" y="3335853"/>
          <a:ext cx="7564950" cy="7148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40550">
                  <a:extLst>
                    <a:ext uri="{9D8B030D-6E8A-4147-A177-3AD203B41FA5}">
                      <a16:colId xmlns:a16="http://schemas.microsoft.com/office/drawing/2014/main" val="3064021595"/>
                    </a:ext>
                  </a:extLst>
                </a:gridCol>
                <a:gridCol w="840550">
                  <a:extLst>
                    <a:ext uri="{9D8B030D-6E8A-4147-A177-3AD203B41FA5}">
                      <a16:colId xmlns:a16="http://schemas.microsoft.com/office/drawing/2014/main" val="25287905"/>
                    </a:ext>
                  </a:extLst>
                </a:gridCol>
                <a:gridCol w="840550">
                  <a:extLst>
                    <a:ext uri="{9D8B030D-6E8A-4147-A177-3AD203B41FA5}">
                      <a16:colId xmlns:a16="http://schemas.microsoft.com/office/drawing/2014/main" val="746404590"/>
                    </a:ext>
                  </a:extLst>
                </a:gridCol>
                <a:gridCol w="840550">
                  <a:extLst>
                    <a:ext uri="{9D8B030D-6E8A-4147-A177-3AD203B41FA5}">
                      <a16:colId xmlns:a16="http://schemas.microsoft.com/office/drawing/2014/main" val="2228046017"/>
                    </a:ext>
                  </a:extLst>
                </a:gridCol>
                <a:gridCol w="840550">
                  <a:extLst>
                    <a:ext uri="{9D8B030D-6E8A-4147-A177-3AD203B41FA5}">
                      <a16:colId xmlns:a16="http://schemas.microsoft.com/office/drawing/2014/main" val="2769571471"/>
                    </a:ext>
                  </a:extLst>
                </a:gridCol>
                <a:gridCol w="840550">
                  <a:extLst>
                    <a:ext uri="{9D8B030D-6E8A-4147-A177-3AD203B41FA5}">
                      <a16:colId xmlns:a16="http://schemas.microsoft.com/office/drawing/2014/main" val="4263885317"/>
                    </a:ext>
                  </a:extLst>
                </a:gridCol>
                <a:gridCol w="840550">
                  <a:extLst>
                    <a:ext uri="{9D8B030D-6E8A-4147-A177-3AD203B41FA5}">
                      <a16:colId xmlns:a16="http://schemas.microsoft.com/office/drawing/2014/main" val="1691478789"/>
                    </a:ext>
                  </a:extLst>
                </a:gridCol>
                <a:gridCol w="840550">
                  <a:extLst>
                    <a:ext uri="{9D8B030D-6E8A-4147-A177-3AD203B41FA5}">
                      <a16:colId xmlns:a16="http://schemas.microsoft.com/office/drawing/2014/main" val="2719336803"/>
                    </a:ext>
                  </a:extLst>
                </a:gridCol>
                <a:gridCol w="840550">
                  <a:extLst>
                    <a:ext uri="{9D8B030D-6E8A-4147-A177-3AD203B41FA5}">
                      <a16:colId xmlns:a16="http://schemas.microsoft.com/office/drawing/2014/main" val="2053538001"/>
                    </a:ext>
                  </a:extLst>
                </a:gridCol>
              </a:tblGrid>
              <a:tr h="259940">
                <a:tc>
                  <a:txBody>
                    <a:bodyPr/>
                    <a:lstStyle/>
                    <a:p>
                      <a:pPr algn="ctr"/>
                      <a:r>
                        <a:rPr lang="id-ID" sz="1000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Sentiment</a:t>
                      </a:r>
                      <a:endParaRPr lang="en-ID" sz="1000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Count</a:t>
                      </a:r>
                      <a:endParaRPr lang="en-ID" sz="1000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Mean</a:t>
                      </a:r>
                      <a:endParaRPr lang="en-ID" sz="1000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Std</a:t>
                      </a:r>
                      <a:endParaRPr lang="en-ID" sz="1000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Min</a:t>
                      </a:r>
                      <a:endParaRPr lang="en-ID" sz="1000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25%</a:t>
                      </a:r>
                      <a:endParaRPr lang="en-ID" sz="1000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50%</a:t>
                      </a:r>
                      <a:endParaRPr lang="en-ID" sz="1000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75%</a:t>
                      </a:r>
                      <a:endParaRPr lang="en-ID" sz="1000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Max</a:t>
                      </a:r>
                      <a:endParaRPr lang="en-ID" sz="1000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039639"/>
                  </a:ext>
                </a:extLst>
              </a:tr>
              <a:tr h="227448"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Negative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43079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8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Plus Jakarta Sans" panose="020B0604020202020204" charset="0"/>
                          <a:ea typeface="+mn-ea"/>
                          <a:cs typeface="Plus Jakarta Sans" panose="020B0604020202020204" charset="0"/>
                          <a:sym typeface="Arial"/>
                        </a:rPr>
                        <a:t>11.828037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8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Plus Jakarta Sans" panose="020B0604020202020204" charset="0"/>
                          <a:ea typeface="+mn-ea"/>
                          <a:cs typeface="Plus Jakarta Sans" panose="020B0604020202020204" charset="0"/>
                          <a:sym typeface="Arial"/>
                        </a:rPr>
                        <a:t>9.943109 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1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5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9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16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70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2271673"/>
                  </a:ext>
                </a:extLst>
              </a:tr>
              <a:tr h="227448"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Positive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43079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8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Plus Jakarta Sans" panose="020B0604020202020204" charset="0"/>
                          <a:ea typeface="+mn-ea"/>
                          <a:cs typeface="Plus Jakarta Sans" panose="020B0604020202020204" charset="0"/>
                          <a:sym typeface="Arial"/>
                        </a:rPr>
                        <a:t>3.223102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8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Plus Jakarta Sans" panose="020B0604020202020204" charset="0"/>
                          <a:ea typeface="+mn-ea"/>
                          <a:cs typeface="Plus Jakarta Sans" panose="020B0604020202020204" charset="0"/>
                          <a:sym typeface="Arial"/>
                        </a:rPr>
                        <a:t>4.403678 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1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1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2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4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 i="1" u="none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63</a:t>
                      </a:r>
                      <a:endParaRPr lang="en-ID" sz="800" b="0" i="1" u="none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9321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925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27348ee98e6_0_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27348ee98e6_0_45"/>
          <p:cNvSpPr txBox="1"/>
          <p:nvPr/>
        </p:nvSpPr>
        <p:spPr>
          <a:xfrm>
            <a:off x="712570" y="4219141"/>
            <a:ext cx="7720447" cy="71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12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Ulasan</a:t>
            </a:r>
            <a:r>
              <a:rPr sz="12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positif</a:t>
            </a:r>
            <a:r>
              <a:rPr sz="12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didominasi</a:t>
            </a:r>
            <a:r>
              <a:rPr sz="12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kata </a:t>
            </a:r>
            <a:r>
              <a:rPr sz="1200" b="1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</a:t>
            </a:r>
            <a:r>
              <a:rPr sz="1200" b="1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bagus</a:t>
            </a:r>
            <a:r>
              <a:rPr sz="1200" b="1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", "</a:t>
            </a:r>
            <a:r>
              <a:rPr sz="1200" b="1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bantu</a:t>
            </a:r>
            <a:r>
              <a:rPr sz="1200" b="1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", dan "</a:t>
            </a:r>
            <a:r>
              <a:rPr sz="1200" b="1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mudah</a:t>
            </a:r>
            <a:r>
              <a:rPr sz="1200" b="1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</a:t>
            </a:r>
            <a:r>
              <a:rPr sz="12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sz="12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menggambarkan</a:t>
            </a:r>
            <a:r>
              <a:rPr sz="12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kepuasan</a:t>
            </a:r>
            <a:r>
              <a:rPr sz="12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terhadap</a:t>
            </a:r>
            <a:r>
              <a:rPr sz="12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kebaikan</a:t>
            </a:r>
            <a:r>
              <a:rPr sz="12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sz="12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kemudahan</a:t>
            </a:r>
            <a:r>
              <a:rPr sz="12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layanan</a:t>
            </a:r>
            <a:r>
              <a:rPr sz="12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Ulasan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negatif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didominasi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kata 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</a:t>
            </a:r>
            <a:r>
              <a:rPr sz="1200" b="1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", "</a:t>
            </a:r>
            <a:r>
              <a:rPr sz="1200" b="1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layan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", dan "</a:t>
            </a:r>
            <a:r>
              <a:rPr sz="1200" b="1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aplikasi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mengindikasikan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keluhan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terkait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layanan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aplikasi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200" i="1" u="none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" name="Google Shape;223;g27348ee98e6_0_45">
            <a:extLst>
              <a:ext uri="{FF2B5EF4-FFF2-40B4-BE49-F238E27FC236}">
                <a16:creationId xmlns:a16="http://schemas.microsoft.com/office/drawing/2014/main" id="{5F68E735-553A-9CCE-6168-EB74F85EAACB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000" b="1" i="0" strike="noStrike" cap="none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TOP 20 KATA PER SENTIMENT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5" name="Bagan 4">
            <a:extLst>
              <a:ext uri="{FF2B5EF4-FFF2-40B4-BE49-F238E27FC236}">
                <a16:creationId xmlns:a16="http://schemas.microsoft.com/office/drawing/2014/main" id="{5E435B7A-E3DD-C253-79B4-BB8764C5D5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094035"/>
              </p:ext>
            </p:extLst>
          </p:nvPr>
        </p:nvGraphicFramePr>
        <p:xfrm>
          <a:off x="436420" y="845127"/>
          <a:ext cx="4072192" cy="3491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Bagan 5">
            <a:extLst>
              <a:ext uri="{FF2B5EF4-FFF2-40B4-BE49-F238E27FC236}">
                <a16:creationId xmlns:a16="http://schemas.microsoft.com/office/drawing/2014/main" id="{06E43A28-5495-BC77-1013-F8F998F2C9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5279204"/>
              </p:ext>
            </p:extLst>
          </p:nvPr>
        </p:nvGraphicFramePr>
        <p:xfrm>
          <a:off x="4636975" y="845127"/>
          <a:ext cx="4072187" cy="3491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7" name="Konektor Lurus 6">
            <a:extLst>
              <a:ext uri="{FF2B5EF4-FFF2-40B4-BE49-F238E27FC236}">
                <a16:creationId xmlns:a16="http://schemas.microsoft.com/office/drawing/2014/main" id="{2EDCF28C-911C-1678-F118-1D19802CC93F}"/>
              </a:ext>
            </a:extLst>
          </p:cNvPr>
          <p:cNvCxnSpPr>
            <a:cxnSpLocks/>
          </p:cNvCxnSpPr>
          <p:nvPr/>
        </p:nvCxnSpPr>
        <p:spPr>
          <a:xfrm flipV="1">
            <a:off x="4572794" y="981687"/>
            <a:ext cx="0" cy="3181604"/>
          </a:xfrm>
          <a:prstGeom prst="line">
            <a:avLst/>
          </a:prstGeom>
          <a:ln w="19050" cap="flat" cmpd="sng" algn="ctr">
            <a:solidFill>
              <a:srgbClr val="26262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Google Shape;223;g27348ee98e6_0_45">
            <a:extLst>
              <a:ext uri="{FF2B5EF4-FFF2-40B4-BE49-F238E27FC236}">
                <a16:creationId xmlns:a16="http://schemas.microsoft.com/office/drawing/2014/main" id="{D551EBEA-CC7A-E8DC-0674-3A3185839EA5}"/>
              </a:ext>
            </a:extLst>
          </p:cNvPr>
          <p:cNvSpPr txBox="1"/>
          <p:nvPr/>
        </p:nvSpPr>
        <p:spPr>
          <a:xfrm>
            <a:off x="2078924" y="675845"/>
            <a:ext cx="842942" cy="31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d-ID" sz="1100" b="1" i="0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POSITIVE</a:t>
            </a:r>
            <a:endParaRPr sz="1100" b="1" i="0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" name="Google Shape;223;g27348ee98e6_0_45">
            <a:extLst>
              <a:ext uri="{FF2B5EF4-FFF2-40B4-BE49-F238E27FC236}">
                <a16:creationId xmlns:a16="http://schemas.microsoft.com/office/drawing/2014/main" id="{31272050-3EE4-1E82-E8C8-F82DD3433538}"/>
              </a:ext>
            </a:extLst>
          </p:cNvPr>
          <p:cNvSpPr txBox="1"/>
          <p:nvPr/>
        </p:nvSpPr>
        <p:spPr>
          <a:xfrm>
            <a:off x="6162220" y="675845"/>
            <a:ext cx="904444" cy="31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d-ID" sz="1100" b="1" i="0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NEGATIVE</a:t>
            </a:r>
            <a:endParaRPr sz="1100" b="1" i="0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186223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27348ee98e6_0_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27348ee98e6_0_45"/>
          <p:cNvSpPr txBox="1"/>
          <p:nvPr/>
        </p:nvSpPr>
        <p:spPr>
          <a:xfrm>
            <a:off x="712571" y="3916684"/>
            <a:ext cx="7720447" cy="536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Dalam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visualisasi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word cloud, kata-kata yang </a:t>
            </a:r>
            <a:r>
              <a:rPr lang="en-ID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menonjol</a:t>
            </a:r>
            <a:r>
              <a:rPr lang="en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pada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ulasan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positive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adalah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</a:t>
            </a:r>
            <a:r>
              <a:rPr sz="1200" b="1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bagus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", "</a:t>
            </a:r>
            <a:r>
              <a:rPr lang="id-ID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bantu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", "</a:t>
            </a:r>
            <a:r>
              <a:rPr sz="1200" b="1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oke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Sedangkan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pada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ulasan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negatif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terdapat</a:t>
            </a:r>
            <a:r>
              <a:rPr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kata 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</a:t>
            </a:r>
            <a:r>
              <a:rPr sz="1200" b="1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buruk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", "</a:t>
            </a:r>
            <a:r>
              <a:rPr sz="1200" b="1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kecewa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", "</a:t>
            </a:r>
            <a:r>
              <a:rPr sz="1200" b="1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".</a:t>
            </a:r>
            <a:endParaRPr sz="1200" b="1" i="1" u="none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" name="Google Shape;223;g27348ee98e6_0_45">
            <a:extLst>
              <a:ext uri="{FF2B5EF4-FFF2-40B4-BE49-F238E27FC236}">
                <a16:creationId xmlns:a16="http://schemas.microsoft.com/office/drawing/2014/main" id="{5F68E735-553A-9CCE-6168-EB74F85EAACB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d-ID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r>
              <a:rPr lang="en-US" sz="2000" b="1" i="0" strike="noStrike" cap="none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id-ID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WORD CLOUD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5D3D9623-E774-BFA4-13C6-68906056F8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27"/>
          <a:stretch/>
        </p:blipFill>
        <p:spPr>
          <a:xfrm>
            <a:off x="0" y="1420092"/>
            <a:ext cx="9145588" cy="2304904"/>
          </a:xfrm>
          <a:prstGeom prst="rect">
            <a:avLst/>
          </a:prstGeom>
        </p:spPr>
      </p:pic>
      <p:sp>
        <p:nvSpPr>
          <p:cNvPr id="8" name="Google Shape;223;g27348ee98e6_0_45">
            <a:extLst>
              <a:ext uri="{FF2B5EF4-FFF2-40B4-BE49-F238E27FC236}">
                <a16:creationId xmlns:a16="http://schemas.microsoft.com/office/drawing/2014/main" id="{909D9C58-FA8C-7987-ED9A-A70AB371C3C1}"/>
              </a:ext>
            </a:extLst>
          </p:cNvPr>
          <p:cNvSpPr txBox="1"/>
          <p:nvPr/>
        </p:nvSpPr>
        <p:spPr>
          <a:xfrm>
            <a:off x="1775567" y="1054571"/>
            <a:ext cx="842942" cy="31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d-ID" sz="1100" b="1" i="0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POSITIVE</a:t>
            </a:r>
            <a:endParaRPr sz="1100" b="1" i="0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" name="Google Shape;223;g27348ee98e6_0_45">
            <a:extLst>
              <a:ext uri="{FF2B5EF4-FFF2-40B4-BE49-F238E27FC236}">
                <a16:creationId xmlns:a16="http://schemas.microsoft.com/office/drawing/2014/main" id="{B457FA7A-C1BC-C528-29FE-22AA715E73ED}"/>
              </a:ext>
            </a:extLst>
          </p:cNvPr>
          <p:cNvSpPr txBox="1"/>
          <p:nvPr/>
        </p:nvSpPr>
        <p:spPr>
          <a:xfrm>
            <a:off x="6481232" y="1054572"/>
            <a:ext cx="888789" cy="31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d-ID" sz="1100" b="1" i="0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NEGATIVE</a:t>
            </a:r>
            <a:endParaRPr sz="1100" b="1" i="0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0" name="Konektor Lurus 9">
            <a:extLst>
              <a:ext uri="{FF2B5EF4-FFF2-40B4-BE49-F238E27FC236}">
                <a16:creationId xmlns:a16="http://schemas.microsoft.com/office/drawing/2014/main" id="{30024133-3D26-51E2-4D7D-F7AC4E0A3EDA}"/>
              </a:ext>
            </a:extLst>
          </p:cNvPr>
          <p:cNvCxnSpPr>
            <a:cxnSpLocks/>
            <a:endCxn id="4" idx="0"/>
          </p:cNvCxnSpPr>
          <p:nvPr/>
        </p:nvCxnSpPr>
        <p:spPr>
          <a:xfrm flipV="1">
            <a:off x="4572794" y="1420092"/>
            <a:ext cx="0" cy="2223653"/>
          </a:xfrm>
          <a:prstGeom prst="line">
            <a:avLst/>
          </a:prstGeom>
          <a:ln w="19050" cap="flat" cmpd="sng" algn="ctr">
            <a:solidFill>
              <a:srgbClr val="26262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853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A8C4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348ee98e6_0_52"/>
          <p:cNvSpPr/>
          <p:nvPr/>
        </p:nvSpPr>
        <p:spPr>
          <a:xfrm>
            <a:off x="-1050025" y="1135575"/>
            <a:ext cx="5007900" cy="4009500"/>
          </a:xfrm>
          <a:prstGeom prst="parallelogram">
            <a:avLst>
              <a:gd name="adj" fmla="val 25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27348ee98e6_0_52"/>
          <p:cNvSpPr/>
          <p:nvPr/>
        </p:nvSpPr>
        <p:spPr>
          <a:xfrm>
            <a:off x="1231875" y="3379605"/>
            <a:ext cx="2726100" cy="1765500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27348ee98e6_0_52"/>
          <p:cNvSpPr/>
          <p:nvPr/>
        </p:nvSpPr>
        <p:spPr>
          <a:xfrm>
            <a:off x="2300550" y="3923775"/>
            <a:ext cx="1853100" cy="1221300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27348ee98e6_0_52"/>
          <p:cNvSpPr txBox="1">
            <a:spLocks noGrp="1"/>
          </p:cNvSpPr>
          <p:nvPr>
            <p:ph type="ctrTitle"/>
          </p:nvPr>
        </p:nvSpPr>
        <p:spPr>
          <a:xfrm>
            <a:off x="4473325" y="2352200"/>
            <a:ext cx="43374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ct val="37500"/>
              <a:buNone/>
            </a:pPr>
            <a:r>
              <a:rPr lang="en-US" sz="4800" b="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Selection and Training</a:t>
            </a:r>
            <a:endParaRPr sz="4800"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32" name="Google Shape;232;g27348ee98e6_0_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838" y="276722"/>
            <a:ext cx="1185011" cy="35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27348ee98e6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8;g27348ee98e6_0_60">
            <a:extLst>
              <a:ext uri="{FF2B5EF4-FFF2-40B4-BE49-F238E27FC236}">
                <a16:creationId xmlns:a16="http://schemas.microsoft.com/office/drawing/2014/main" id="{E26508A3-846D-8B9A-2F1B-2FC50EDA458D}"/>
              </a:ext>
            </a:extLst>
          </p:cNvPr>
          <p:cNvSpPr txBox="1"/>
          <p:nvPr/>
        </p:nvSpPr>
        <p:spPr>
          <a:xfrm>
            <a:off x="1052894" y="924236"/>
            <a:ext cx="7039800" cy="117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dibagi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menjadi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tiga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subset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menggunakan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stratified split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menjaga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proporsi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kelas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tetap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seimbang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setiap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set.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E8C7CB5C-05E1-0DBA-DD9D-1031EA545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189644"/>
              </p:ext>
            </p:extLst>
          </p:nvPr>
        </p:nvGraphicFramePr>
        <p:xfrm>
          <a:off x="3005455" y="2200053"/>
          <a:ext cx="3134678" cy="1417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535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148336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Set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Jumlah</a:t>
                      </a:r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 Data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Proporsi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Train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68.926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80%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Validation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8.616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10%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8.616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5" name="Google Shape;238;g27348ee98e6_0_60">
            <a:extLst>
              <a:ext uri="{FF2B5EF4-FFF2-40B4-BE49-F238E27FC236}">
                <a16:creationId xmlns:a16="http://schemas.microsoft.com/office/drawing/2014/main" id="{EAA84BCF-8128-7A7A-57B4-46AA01F2FDE0}"/>
              </a:ext>
            </a:extLst>
          </p:cNvPr>
          <p:cNvSpPr txBox="1"/>
          <p:nvPr/>
        </p:nvSpPr>
        <p:spPr>
          <a:xfrm>
            <a:off x="1052894" y="3881347"/>
            <a:ext cx="7039800" cy="97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1800" b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digunakan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melatih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model, </a:t>
            </a:r>
            <a:r>
              <a:rPr lang="en-US" sz="1800" b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Validation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memantau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setelah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training dan </a:t>
            </a:r>
            <a:r>
              <a:rPr lang="en-US" sz="16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mencegah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overfitting, </a:t>
            </a:r>
            <a:r>
              <a:rPr lang="en-US" sz="1800" b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evaluasi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akhir</a:t>
            </a:r>
            <a:r>
              <a:rPr lang="en-US" sz="16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model.</a:t>
            </a:r>
          </a:p>
        </p:txBody>
      </p:sp>
      <p:sp>
        <p:nvSpPr>
          <p:cNvPr id="6" name="Google Shape;223;g27348ee98e6_0_45">
            <a:extLst>
              <a:ext uri="{FF2B5EF4-FFF2-40B4-BE49-F238E27FC236}">
                <a16:creationId xmlns:a16="http://schemas.microsoft.com/office/drawing/2014/main" id="{2DB021BF-F8F9-C66E-93E0-5293242FAE08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SPLIT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265108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27348ee98e6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3;g27348ee98e6_0_45">
            <a:extLst>
              <a:ext uri="{FF2B5EF4-FFF2-40B4-BE49-F238E27FC236}">
                <a16:creationId xmlns:a16="http://schemas.microsoft.com/office/drawing/2014/main" id="{00EE2074-081B-F144-79DD-C77D8CA1B2FC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TOKENIZING &amp; PADDING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" name="Google Shape;238;g27348ee98e6_0_60">
            <a:extLst>
              <a:ext uri="{FF2B5EF4-FFF2-40B4-BE49-F238E27FC236}">
                <a16:creationId xmlns:a16="http://schemas.microsoft.com/office/drawing/2014/main" id="{79F2AE57-B74A-C3F8-6952-5963D63B4B07}"/>
              </a:ext>
            </a:extLst>
          </p:cNvPr>
          <p:cNvSpPr txBox="1"/>
          <p:nvPr/>
        </p:nvSpPr>
        <p:spPr>
          <a:xfrm>
            <a:off x="1052894" y="1043071"/>
            <a:ext cx="7039800" cy="355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Setiap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kata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diubah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menjadi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ID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unik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berdasarkan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kamus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vocab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dari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 train. Total vocab pada data train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adalah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b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32.546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namun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batas max vocab yang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dipilih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adalah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b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20.000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lang="en-US" sz="2000" i="1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algn="just">
              <a:buSzPts val="3000"/>
            </a:pP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Proses padding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menyamakan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panjang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sekuens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teks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menjadi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b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 kata (</a:t>
            </a:r>
            <a:r>
              <a:rPr lang="en-US" sz="2000" b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max_len</a:t>
            </a:r>
            <a:r>
              <a:rPr lang="en-US" sz="2000" b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yang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diambil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dari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nilai</a:t>
            </a:r>
            <a:r>
              <a:rPr lang="en-US" sz="2000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b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persentil</a:t>
            </a:r>
            <a:r>
              <a:rPr lang="en-US" sz="2000" b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95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 train. Batas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dipilih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karena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mayoritas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ulasan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sangat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pendek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dengan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rata-rata 7,5 kata,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meskipun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panjang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teks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maksimalnya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0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mencapai</a:t>
            </a:r>
            <a:r>
              <a:rPr lang="en-US" sz="20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65 kata.</a:t>
            </a:r>
            <a:endParaRPr lang="en-US" sz="2000" i="1" u="none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763535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27348ee98e6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3;g27348ee98e6_0_45">
            <a:extLst>
              <a:ext uri="{FF2B5EF4-FFF2-40B4-BE49-F238E27FC236}">
                <a16:creationId xmlns:a16="http://schemas.microsoft.com/office/drawing/2014/main" id="{00EE2074-081B-F144-79DD-C77D8CA1B2FC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SELECTION – DNN (BASELINE)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" name="Google Shape;238;g27348ee98e6_0_60">
            <a:extLst>
              <a:ext uri="{FF2B5EF4-FFF2-40B4-BE49-F238E27FC236}">
                <a16:creationId xmlns:a16="http://schemas.microsoft.com/office/drawing/2014/main" id="{79F2AE57-B74A-C3F8-6952-5963D63B4B07}"/>
              </a:ext>
            </a:extLst>
          </p:cNvPr>
          <p:cNvSpPr txBox="1"/>
          <p:nvPr/>
        </p:nvSpPr>
        <p:spPr>
          <a:xfrm>
            <a:off x="1052894" y="1077314"/>
            <a:ext cx="7039800" cy="74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algn="just">
              <a:buSzPts val="3000"/>
            </a:pP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Dipili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sebagai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baseline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komparasi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dengan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karena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masih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dalam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keluarga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Deep Learning,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namun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memiliki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kemampuan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menangkap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urutan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kata.</a:t>
            </a:r>
            <a:endParaRPr lang="en-US" i="1" u="none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130E157D-9E00-4B75-F331-DC8DDA1D4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360862"/>
              </p:ext>
            </p:extLst>
          </p:nvPr>
        </p:nvGraphicFramePr>
        <p:xfrm>
          <a:off x="1879283" y="1995858"/>
          <a:ext cx="5387023" cy="2159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51430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2835593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Parameter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Fungsi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Embedding (64 dim)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Ubah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ID kata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jadi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vector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bermakna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GlobalAveragePooling1D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Rata-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ratakan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semua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vector kata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Dense (64,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ReLU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) + Dropout (0.3)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Pelajari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pola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dari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representasi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teks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Dense (32,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ReLU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) + Dropout (0.3)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Pelajari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representasi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sebelum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output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256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Dense (1, Sigmoid)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Output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probabilitas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Positif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/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Negatif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13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147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27348ee98e6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3;g27348ee98e6_0_45">
            <a:extLst>
              <a:ext uri="{FF2B5EF4-FFF2-40B4-BE49-F238E27FC236}">
                <a16:creationId xmlns:a16="http://schemas.microsoft.com/office/drawing/2014/main" id="{00EE2074-081B-F144-79DD-C77D8CA1B2FC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DNN - TRAINING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3DCE9510-351E-6FFA-0065-F9283FA2F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856419"/>
              </p:ext>
            </p:extLst>
          </p:nvPr>
        </p:nvGraphicFramePr>
        <p:xfrm>
          <a:off x="1500071" y="1220701"/>
          <a:ext cx="3407410" cy="14653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2427605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289842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Epochs</a:t>
                      </a:r>
                      <a:endParaRPr lang="en-ID" sz="1200" b="1" i="0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dirty="0">
                          <a:solidFill>
                            <a:sysClr val="windowText" lastClr="000000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20 (Early Stopping, patience 3)</a:t>
                      </a:r>
                      <a:endParaRPr lang="en-ID" sz="1200" b="0" i="1" dirty="0">
                        <a:solidFill>
                          <a:sysClr val="windowText" lastClr="000000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91823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Batch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128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91823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Optimizer</a:t>
                      </a:r>
                      <a:endParaRPr lang="en-ID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Adam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91823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Loss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Binary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Crossentropy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4" name="Google Shape;238;g27348ee98e6_0_60">
            <a:extLst>
              <a:ext uri="{FF2B5EF4-FFF2-40B4-BE49-F238E27FC236}">
                <a16:creationId xmlns:a16="http://schemas.microsoft.com/office/drawing/2014/main" id="{5565DFF4-610F-4AD0-A531-CE9A5FAAD079}"/>
              </a:ext>
            </a:extLst>
          </p:cNvPr>
          <p:cNvSpPr txBox="1"/>
          <p:nvPr/>
        </p:nvSpPr>
        <p:spPr>
          <a:xfrm>
            <a:off x="5019971" y="1124714"/>
            <a:ext cx="2876523" cy="1657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>
              <a:buSzPts val="3000"/>
            </a:pP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di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latih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dengan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maksimal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20 epoch,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tetapi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Early Stopping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menghentikan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training di Epoch 3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karena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val_loss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mengalami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perbaikan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signifikan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setelahnya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D0DC84C5-8F75-685D-0B37-C99099030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758415"/>
              </p:ext>
            </p:extLst>
          </p:nvPr>
        </p:nvGraphicFramePr>
        <p:xfrm>
          <a:off x="5119033" y="2952339"/>
          <a:ext cx="2065973" cy="14653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0365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762318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243097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 Accuracy </a:t>
                      </a:r>
                      <a:endParaRPr lang="en-ID" sz="1200" b="1" i="0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92.01%</a:t>
                      </a:r>
                      <a:endParaRPr lang="en-ID" sz="1200" b="0" i="1" dirty="0">
                        <a:solidFill>
                          <a:sysClr val="windowText" lastClr="000000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405161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 Loss</a:t>
                      </a:r>
                      <a:endParaRPr lang="en-US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0.2236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Train Accuracy</a:t>
                      </a:r>
                      <a:endParaRPr lang="en-ID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92.46%</a:t>
                      </a:r>
                    </a:p>
                    <a:p>
                      <a:pPr algn="l"/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28631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Train Loss</a:t>
                      </a:r>
                      <a:endParaRPr lang="en-US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0.2215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8" name="Google Shape;238;g27348ee98e6_0_60">
            <a:extLst>
              <a:ext uri="{FF2B5EF4-FFF2-40B4-BE49-F238E27FC236}">
                <a16:creationId xmlns:a16="http://schemas.microsoft.com/office/drawing/2014/main" id="{EDEFD70F-9CE3-6419-19CC-356E4A5AEECB}"/>
              </a:ext>
            </a:extLst>
          </p:cNvPr>
          <p:cNvSpPr txBox="1"/>
          <p:nvPr/>
        </p:nvSpPr>
        <p:spPr>
          <a:xfrm>
            <a:off x="2143448" y="3117171"/>
            <a:ext cx="2876523" cy="10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algn="r">
              <a:buSzPts val="3000"/>
            </a:pP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Gap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antara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train dan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accuracy sangat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kecil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mengindikasikan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model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mengalami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overfitting.</a:t>
            </a:r>
          </a:p>
        </p:txBody>
      </p:sp>
    </p:spTree>
    <p:extLst>
      <p:ext uri="{BB962C8B-B14F-4D97-AF65-F5344CB8AC3E}">
        <p14:creationId xmlns:p14="http://schemas.microsoft.com/office/powerpoint/2010/main" val="1295560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27348ee98e6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3;g27348ee98e6_0_45">
            <a:extLst>
              <a:ext uri="{FF2B5EF4-FFF2-40B4-BE49-F238E27FC236}">
                <a16:creationId xmlns:a16="http://schemas.microsoft.com/office/drawing/2014/main" id="{00EE2074-081B-F144-79DD-C77D8CA1B2FC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SELECTION – </a:t>
            </a:r>
            <a:r>
              <a:rPr lang="en-US" sz="2000" b="1" spc="300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(MAIN)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" name="Google Shape;238;g27348ee98e6_0_60">
            <a:extLst>
              <a:ext uri="{FF2B5EF4-FFF2-40B4-BE49-F238E27FC236}">
                <a16:creationId xmlns:a16="http://schemas.microsoft.com/office/drawing/2014/main" id="{79F2AE57-B74A-C3F8-6952-5963D63B4B07}"/>
              </a:ext>
            </a:extLst>
          </p:cNvPr>
          <p:cNvSpPr txBox="1"/>
          <p:nvPr/>
        </p:nvSpPr>
        <p:spPr>
          <a:xfrm>
            <a:off x="1052894" y="1077314"/>
            <a:ext cx="7039800" cy="102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algn="just">
              <a:buSzPts val="3000"/>
            </a:pP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Dipilih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sebagai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main model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karena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mampu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membaca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teks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dua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arah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sekaligus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–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kiri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kanan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sebaliknya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Kemampuan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itu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membuat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sangat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cocok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memahami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konteks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kalimat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terutama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kata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negasi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seperti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“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bagus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” vs “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bagus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”</a:t>
            </a:r>
            <a:endParaRPr lang="en-US" i="1" u="none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130E157D-9E00-4B75-F331-DC8DDA1D4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607247"/>
              </p:ext>
            </p:extLst>
          </p:nvPr>
        </p:nvGraphicFramePr>
        <p:xfrm>
          <a:off x="1749108" y="2277325"/>
          <a:ext cx="5647373" cy="2159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51430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3095943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Parameter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Fungsi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Embedding (128 dim)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Ubah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ID kata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jadi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vector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bermakna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SpatialDropout1D (0.3)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Regularisasi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pada level embedding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Bidirectional LSTM (64)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Baca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urutan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kata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dari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dua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arah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Dense (64,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ReLU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) + Dropout (0.3)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Pelajari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pola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dari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representasi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sequential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256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Dense (1, Sigmoid)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Output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probabilitas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Positif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/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Negatif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13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8337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27348ee98e6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3;g27348ee98e6_0_45">
            <a:extLst>
              <a:ext uri="{FF2B5EF4-FFF2-40B4-BE49-F238E27FC236}">
                <a16:creationId xmlns:a16="http://schemas.microsoft.com/office/drawing/2014/main" id="{00EE2074-081B-F144-79DD-C77D8CA1B2FC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- TRAINING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3DCE9510-351E-6FFA-0065-F9283FA2F70D}"/>
              </a:ext>
            </a:extLst>
          </p:cNvPr>
          <p:cNvGraphicFramePr>
            <a:graphicFrameLocks noGrp="1"/>
          </p:cNvGraphicFramePr>
          <p:nvPr/>
        </p:nvGraphicFramePr>
        <p:xfrm>
          <a:off x="1500071" y="1220701"/>
          <a:ext cx="3407410" cy="14653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2427605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289842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Epochs</a:t>
                      </a:r>
                      <a:endParaRPr lang="en-ID" sz="1200" b="1" i="0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dirty="0">
                          <a:solidFill>
                            <a:sysClr val="windowText" lastClr="000000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20 (Early Stopping, patience 3)</a:t>
                      </a:r>
                      <a:endParaRPr lang="en-ID" sz="1200" b="0" i="1" dirty="0">
                        <a:solidFill>
                          <a:sysClr val="windowText" lastClr="000000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91823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Batch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128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91823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Optimizer</a:t>
                      </a:r>
                      <a:endParaRPr lang="en-ID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Adam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91823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Loss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Binary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Crossentropy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4" name="Google Shape;238;g27348ee98e6_0_60">
            <a:extLst>
              <a:ext uri="{FF2B5EF4-FFF2-40B4-BE49-F238E27FC236}">
                <a16:creationId xmlns:a16="http://schemas.microsoft.com/office/drawing/2014/main" id="{5565DFF4-610F-4AD0-A531-CE9A5FAAD079}"/>
              </a:ext>
            </a:extLst>
          </p:cNvPr>
          <p:cNvSpPr txBox="1"/>
          <p:nvPr/>
        </p:nvSpPr>
        <p:spPr>
          <a:xfrm>
            <a:off x="5019971" y="1124714"/>
            <a:ext cx="2876523" cy="1657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>
              <a:buSzPts val="3000"/>
            </a:pP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di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latih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dengan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maksimal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20 epoch,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tetapi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Early Stopping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menghentikan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training di Epoch 2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karena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val_loss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mengalami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perbaikan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signifikan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setelahnya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D0DC84C5-8F75-685D-0B37-C99099030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34707"/>
              </p:ext>
            </p:extLst>
          </p:nvPr>
        </p:nvGraphicFramePr>
        <p:xfrm>
          <a:off x="5119033" y="2952339"/>
          <a:ext cx="2134241" cy="14653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0365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830586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243097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 Accuracy </a:t>
                      </a:r>
                      <a:endParaRPr lang="en-ID" sz="1200" b="1" i="0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92.41%</a:t>
                      </a:r>
                      <a:endParaRPr lang="en-ID" sz="1200" b="0" i="1" dirty="0">
                        <a:solidFill>
                          <a:sysClr val="windowText" lastClr="000000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405161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 Loss</a:t>
                      </a:r>
                      <a:endParaRPr lang="en-US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0.2166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Train Accuracy</a:t>
                      </a:r>
                      <a:endParaRPr lang="en-ID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93.15%</a:t>
                      </a:r>
                    </a:p>
                    <a:p>
                      <a:pPr algn="l"/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28631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Train Loss</a:t>
                      </a:r>
                      <a:endParaRPr lang="en-US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0.2049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8" name="Google Shape;238;g27348ee98e6_0_60">
            <a:extLst>
              <a:ext uri="{FF2B5EF4-FFF2-40B4-BE49-F238E27FC236}">
                <a16:creationId xmlns:a16="http://schemas.microsoft.com/office/drawing/2014/main" id="{EDEFD70F-9CE3-6419-19CC-356E4A5AEECB}"/>
              </a:ext>
            </a:extLst>
          </p:cNvPr>
          <p:cNvSpPr txBox="1"/>
          <p:nvPr/>
        </p:nvSpPr>
        <p:spPr>
          <a:xfrm>
            <a:off x="2143448" y="3096389"/>
            <a:ext cx="2876523" cy="10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algn="r">
              <a:buSzPts val="3000"/>
            </a:pP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Gap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antara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train dan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masih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terkontrol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mengidikasikan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model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overfitting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secara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signifikan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lang="en-US" i="1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059439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27348ee98e6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3;g27348ee98e6_0_45">
            <a:extLst>
              <a:ext uri="{FF2B5EF4-FFF2-40B4-BE49-F238E27FC236}">
                <a16:creationId xmlns:a16="http://schemas.microsoft.com/office/drawing/2014/main" id="{00EE2074-081B-F144-79DD-C77D8CA1B2FC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HYPERPARAMETER TUNING </a:t>
            </a:r>
            <a:r>
              <a:rPr lang="en-US" sz="2000" b="1" spc="300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" name="Google Shape;238;g27348ee98e6_0_60">
            <a:extLst>
              <a:ext uri="{FF2B5EF4-FFF2-40B4-BE49-F238E27FC236}">
                <a16:creationId xmlns:a16="http://schemas.microsoft.com/office/drawing/2014/main" id="{79F2AE57-B74A-C3F8-6952-5963D63B4B07}"/>
              </a:ext>
            </a:extLst>
          </p:cNvPr>
          <p:cNvSpPr txBox="1"/>
          <p:nvPr/>
        </p:nvSpPr>
        <p:spPr>
          <a:xfrm>
            <a:off x="1052894" y="904131"/>
            <a:ext cx="7039800" cy="799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algn="just">
              <a:buSzPts val="3000"/>
            </a:pP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Tuning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dilakukan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pencarian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kombinasi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hyperparameter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terbaik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menggunakan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Keras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Tuner – Random Search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melihat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apakah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model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bisa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ditingkatkan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lebih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jauh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130E157D-9E00-4B75-F331-DC8DDA1D4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26049"/>
              </p:ext>
            </p:extLst>
          </p:nvPr>
        </p:nvGraphicFramePr>
        <p:xfrm>
          <a:off x="2865914" y="1868613"/>
          <a:ext cx="3413760" cy="2529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610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1557655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Parameter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Opsi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Embedding Dimension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64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atau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128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SpatialDropout1D</a:t>
                      </a:r>
                      <a:endParaRPr lang="en-ID" sz="1200" b="1" i="0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0.2, 0.3,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atau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0.4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Bidirectional LSTM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32, 64,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atau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128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Dense 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32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atau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64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256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Dropout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0.2, 0.3,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atau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0.5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1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Learning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0.001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atau</a:t>
                      </a:r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0.0001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2785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259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27348ee98e6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8;g27348ee98e6_0_60">
            <a:extLst>
              <a:ext uri="{FF2B5EF4-FFF2-40B4-BE49-F238E27FC236}">
                <a16:creationId xmlns:a16="http://schemas.microsoft.com/office/drawing/2014/main" id="{79F2AE57-B74A-C3F8-6952-5963D63B4B07}"/>
              </a:ext>
            </a:extLst>
          </p:cNvPr>
          <p:cNvSpPr txBox="1"/>
          <p:nvPr/>
        </p:nvSpPr>
        <p:spPr>
          <a:xfrm>
            <a:off x="1052894" y="822627"/>
            <a:ext cx="7039800" cy="64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algn="just">
              <a:buSzPts val="3000"/>
            </a:pPr>
            <a:r>
              <a:rPr lang="en-US" b="1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 Trials: 10 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–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Dicoba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10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kombinasi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secara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acak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memilih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yang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terbaik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berdasarkan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val_accuracy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130E157D-9E00-4B75-F331-DC8DDA1D4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551964"/>
              </p:ext>
            </p:extLst>
          </p:nvPr>
        </p:nvGraphicFramePr>
        <p:xfrm>
          <a:off x="3022283" y="1470204"/>
          <a:ext cx="3101022" cy="2529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610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1244917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Parameter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Nilai </a:t>
                      </a:r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Terpilih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Embedding Dimension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128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SpatialDropout1D</a:t>
                      </a:r>
                      <a:endParaRPr lang="en-ID" sz="1200" b="1" i="0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0.4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Bidirectional LSTM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64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Dense 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64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256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Dropout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0.3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1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Learning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0.001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2785501"/>
                  </a:ext>
                </a:extLst>
              </a:tr>
            </a:tbl>
          </a:graphicData>
        </a:graphic>
      </p:graphicFrame>
      <p:sp>
        <p:nvSpPr>
          <p:cNvPr id="6" name="Google Shape;223;g27348ee98e6_0_45">
            <a:extLst>
              <a:ext uri="{FF2B5EF4-FFF2-40B4-BE49-F238E27FC236}">
                <a16:creationId xmlns:a16="http://schemas.microsoft.com/office/drawing/2014/main" id="{3B33BFB6-DE97-4269-A87D-96015E61D59E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HASIL HYPERPARAMETER TERBAIK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" name="Google Shape;238;g27348ee98e6_0_60">
            <a:extLst>
              <a:ext uri="{FF2B5EF4-FFF2-40B4-BE49-F238E27FC236}">
                <a16:creationId xmlns:a16="http://schemas.microsoft.com/office/drawing/2014/main" id="{D22DDF95-5D4C-B714-25CD-3D607D770892}"/>
              </a:ext>
            </a:extLst>
          </p:cNvPr>
          <p:cNvSpPr txBox="1"/>
          <p:nvPr/>
        </p:nvSpPr>
        <p:spPr>
          <a:xfrm>
            <a:off x="1052894" y="4083045"/>
            <a:ext cx="7039800" cy="7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algn="just">
              <a:buSzPts val="3000"/>
            </a:pP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Parameter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terbaik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hasil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tuning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hampir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identik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dengan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parameter default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yang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sudah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dipakai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sebelumnya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artinya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arsitektur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awal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yang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dipilih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sudah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sangat optimal.</a:t>
            </a:r>
            <a:endParaRPr lang="en-US" i="1" u="none" strike="noStrike" cap="none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" name="Google Shape;238;g27348ee98e6_0_60">
            <a:extLst>
              <a:ext uri="{FF2B5EF4-FFF2-40B4-BE49-F238E27FC236}">
                <a16:creationId xmlns:a16="http://schemas.microsoft.com/office/drawing/2014/main" id="{F2728253-89E2-638F-EE01-D7A22C2006DB}"/>
              </a:ext>
            </a:extLst>
          </p:cNvPr>
          <p:cNvSpPr txBox="1"/>
          <p:nvPr/>
        </p:nvSpPr>
        <p:spPr>
          <a:xfrm>
            <a:off x="1052894" y="3807521"/>
            <a:ext cx="1073779" cy="38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algn="just">
              <a:buSzPts val="3000"/>
            </a:pPr>
            <a:r>
              <a:rPr lang="en-US" b="1" u="sng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</a:t>
            </a:r>
          </a:p>
        </p:txBody>
      </p:sp>
    </p:spTree>
    <p:extLst>
      <p:ext uri="{BB962C8B-B14F-4D97-AF65-F5344CB8AC3E}">
        <p14:creationId xmlns:p14="http://schemas.microsoft.com/office/powerpoint/2010/main" val="1814866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27348ee98e6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3;g27348ee98e6_0_45">
            <a:extLst>
              <a:ext uri="{FF2B5EF4-FFF2-40B4-BE49-F238E27FC236}">
                <a16:creationId xmlns:a16="http://schemas.microsoft.com/office/drawing/2014/main" id="{00EE2074-081B-F144-79DD-C77D8CA1B2FC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TUNED - TRAINING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3DCE9510-351E-6FFA-0065-F9283FA2F70D}"/>
              </a:ext>
            </a:extLst>
          </p:cNvPr>
          <p:cNvGraphicFramePr>
            <a:graphicFrameLocks noGrp="1"/>
          </p:cNvGraphicFramePr>
          <p:nvPr/>
        </p:nvGraphicFramePr>
        <p:xfrm>
          <a:off x="1500071" y="1220701"/>
          <a:ext cx="3407410" cy="14653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2427605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289842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Epochs</a:t>
                      </a:r>
                      <a:endParaRPr lang="en-ID" sz="1200" b="1" i="0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dirty="0">
                          <a:solidFill>
                            <a:sysClr val="windowText" lastClr="000000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20 (Early Stopping, patience 3)</a:t>
                      </a:r>
                      <a:endParaRPr lang="en-ID" sz="1200" b="0" i="1" dirty="0">
                        <a:solidFill>
                          <a:sysClr val="windowText" lastClr="000000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91823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Batch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128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91823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Optimizer</a:t>
                      </a:r>
                      <a:endParaRPr lang="en-ID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Adam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91823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Loss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Binary </a:t>
                      </a:r>
                      <a:r>
                        <a:rPr lang="en-US" sz="1200" b="0" i="1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Crossentropy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4" name="Google Shape;238;g27348ee98e6_0_60">
            <a:extLst>
              <a:ext uri="{FF2B5EF4-FFF2-40B4-BE49-F238E27FC236}">
                <a16:creationId xmlns:a16="http://schemas.microsoft.com/office/drawing/2014/main" id="{5565DFF4-610F-4AD0-A531-CE9A5FAAD079}"/>
              </a:ext>
            </a:extLst>
          </p:cNvPr>
          <p:cNvSpPr txBox="1"/>
          <p:nvPr/>
        </p:nvSpPr>
        <p:spPr>
          <a:xfrm>
            <a:off x="5019971" y="1124714"/>
            <a:ext cx="2876523" cy="1657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>
              <a:buSzPts val="3000"/>
            </a:pP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di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latih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dengan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maksimal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20 epoch,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tetapi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Early Stopping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menghentikan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training di Epoch 2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karena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val_loss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mengalami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perbaikan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signifikan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setelahnya</a:t>
            </a:r>
            <a:r>
              <a:rPr lang="en-US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D0DC84C5-8F75-685D-0B37-C99099030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569123"/>
              </p:ext>
            </p:extLst>
          </p:nvPr>
        </p:nvGraphicFramePr>
        <p:xfrm>
          <a:off x="5119033" y="2952339"/>
          <a:ext cx="2134241" cy="14653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0365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830586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243097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 Accuracy </a:t>
                      </a:r>
                      <a:endParaRPr lang="en-ID" sz="1200" b="1" i="0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92.32%</a:t>
                      </a:r>
                      <a:endParaRPr lang="en-ID" sz="1200" b="0" i="1" dirty="0">
                        <a:solidFill>
                          <a:sysClr val="windowText" lastClr="000000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405161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 Loss</a:t>
                      </a:r>
                      <a:endParaRPr lang="en-US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0.2158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Train Accuracy</a:t>
                      </a:r>
                      <a:endParaRPr lang="en-ID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92.99%</a:t>
                      </a:r>
                    </a:p>
                    <a:p>
                      <a:pPr algn="l"/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28631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Train Loss</a:t>
                      </a:r>
                      <a:endParaRPr lang="en-US" sz="1200" b="1" i="0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0.2066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8" name="Google Shape;238;g27348ee98e6_0_60">
            <a:extLst>
              <a:ext uri="{FF2B5EF4-FFF2-40B4-BE49-F238E27FC236}">
                <a16:creationId xmlns:a16="http://schemas.microsoft.com/office/drawing/2014/main" id="{EDEFD70F-9CE3-6419-19CC-356E4A5AEECB}"/>
              </a:ext>
            </a:extLst>
          </p:cNvPr>
          <p:cNvSpPr txBox="1"/>
          <p:nvPr/>
        </p:nvSpPr>
        <p:spPr>
          <a:xfrm>
            <a:off x="2143448" y="3096389"/>
            <a:ext cx="2876523" cy="1025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algn="r">
              <a:buSzPts val="3000"/>
            </a:pP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Gap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antara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train dan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masih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terkontrol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mengidikasikan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model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overfitting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secara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i="1" u="none" strike="noStrike" cap="none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signifikan</a:t>
            </a:r>
            <a:r>
              <a:rPr lang="en-US" i="1" u="none" strike="noStrike" cap="none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lang="en-US" i="1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780309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A8C4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7348ee98e6_0_67"/>
          <p:cNvSpPr/>
          <p:nvPr/>
        </p:nvSpPr>
        <p:spPr>
          <a:xfrm>
            <a:off x="-1050025" y="1135575"/>
            <a:ext cx="5007900" cy="4009500"/>
          </a:xfrm>
          <a:prstGeom prst="parallelogram">
            <a:avLst>
              <a:gd name="adj" fmla="val 25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27348ee98e6_0_67"/>
          <p:cNvSpPr/>
          <p:nvPr/>
        </p:nvSpPr>
        <p:spPr>
          <a:xfrm>
            <a:off x="1231875" y="3379605"/>
            <a:ext cx="2726100" cy="1765500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27348ee98e6_0_67"/>
          <p:cNvSpPr/>
          <p:nvPr/>
        </p:nvSpPr>
        <p:spPr>
          <a:xfrm>
            <a:off x="2300550" y="3923775"/>
            <a:ext cx="1853100" cy="1221300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27348ee98e6_0_67"/>
          <p:cNvSpPr txBox="1">
            <a:spLocks noGrp="1"/>
          </p:cNvSpPr>
          <p:nvPr>
            <p:ph type="ctrTitle"/>
          </p:nvPr>
        </p:nvSpPr>
        <p:spPr>
          <a:xfrm>
            <a:off x="3911700" y="1837475"/>
            <a:ext cx="5203800" cy="14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4020" b="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Evaluation</a:t>
            </a:r>
            <a:endParaRPr sz="4020"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47" name="Google Shape;247;g27348ee98e6_0_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838" y="276722"/>
            <a:ext cx="1185011" cy="35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27348ee98e6_0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27348ee98e6_0_75"/>
          <p:cNvSpPr txBox="1"/>
          <p:nvPr/>
        </p:nvSpPr>
        <p:spPr>
          <a:xfrm>
            <a:off x="1052894" y="4053353"/>
            <a:ext cx="7039800" cy="977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cukup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baik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dalam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mendeteksi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ulasan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negative </a:t>
            </a:r>
            <a:r>
              <a:rPr lang="en-US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(Recall 93%)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namun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masih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422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ulasan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positif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yang salah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diklasifikasikan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sebagai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negative.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Kemungkinan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karena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DNN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dapat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menangkap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konteks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urutan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kata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seperti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kata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negasi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71BC24B7-01F7-9963-E1DE-4544376C9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192153"/>
              </p:ext>
            </p:extLst>
          </p:nvPr>
        </p:nvGraphicFramePr>
        <p:xfrm>
          <a:off x="1101385" y="1073900"/>
          <a:ext cx="4798793" cy="1417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824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1016317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162077019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550586641"/>
                    </a:ext>
                  </a:extLst>
                </a:gridCol>
                <a:gridCol w="927417">
                  <a:extLst>
                    <a:ext uri="{9D8B030D-6E8A-4147-A177-3AD203B41FA5}">
                      <a16:colId xmlns:a16="http://schemas.microsoft.com/office/drawing/2014/main" val="434123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Precision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Recall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F1-Score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Support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Negatif</a:t>
                      </a:r>
                      <a:endParaRPr lang="en-US" sz="1200" b="1" i="0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0.90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0.93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4.308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Positif</a:t>
                      </a:r>
                      <a:endParaRPr lang="en-ID" sz="1200" b="1" i="0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0.93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0.90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4.308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Macro AVG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8.616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4" name="Google Shape;223;g27348ee98e6_0_45">
            <a:extLst>
              <a:ext uri="{FF2B5EF4-FFF2-40B4-BE49-F238E27FC236}">
                <a16:creationId xmlns:a16="http://schemas.microsoft.com/office/drawing/2014/main" id="{F5CF9134-3CE9-BD2F-9D38-DFB64F6022B5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EVALUASI DNN (BASELINE)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BED9C75F-72D7-59C3-A987-5BABDDC11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299287"/>
              </p:ext>
            </p:extLst>
          </p:nvPr>
        </p:nvGraphicFramePr>
        <p:xfrm>
          <a:off x="3628293" y="2790498"/>
          <a:ext cx="4361815" cy="1046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190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1590993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  <a:gridCol w="1498917">
                  <a:extLst>
                    <a:ext uri="{9D8B030D-6E8A-4147-A177-3AD203B41FA5}">
                      <a16:colId xmlns:a16="http://schemas.microsoft.com/office/drawing/2014/main" val="3162077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Prediksi</a:t>
                      </a:r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Negatif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Prediksi</a:t>
                      </a:r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Positif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Aktual</a:t>
                      </a:r>
                      <a:r>
                        <a:rPr lang="en-US" sz="1200" b="1" i="0" strike="noStrike" dirty="0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Negatif</a:t>
                      </a:r>
                      <a:endParaRPr lang="en-US" sz="1200" b="1" i="0" strike="noStrike" dirty="0">
                        <a:solidFill>
                          <a:schemeClr val="bg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4.019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289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Aktual</a:t>
                      </a:r>
                      <a:r>
                        <a:rPr lang="en-US" sz="1200" b="1" i="0" strike="noStrike" dirty="0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Positif</a:t>
                      </a:r>
                      <a:endParaRPr lang="en-ID" sz="1200" b="1" i="0" strike="noStrike" dirty="0">
                        <a:solidFill>
                          <a:schemeClr val="bg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422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3.886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</a:tbl>
          </a:graphicData>
        </a:graphic>
      </p:graphicFrame>
      <p:sp>
        <p:nvSpPr>
          <p:cNvPr id="6" name="Google Shape;253;g27348ee98e6_0_75">
            <a:extLst>
              <a:ext uri="{FF2B5EF4-FFF2-40B4-BE49-F238E27FC236}">
                <a16:creationId xmlns:a16="http://schemas.microsoft.com/office/drawing/2014/main" id="{70B08DAB-BF35-A2AD-5250-5F23534154C3}"/>
              </a:ext>
            </a:extLst>
          </p:cNvPr>
          <p:cNvSpPr txBox="1"/>
          <p:nvPr/>
        </p:nvSpPr>
        <p:spPr>
          <a:xfrm>
            <a:off x="1004403" y="769089"/>
            <a:ext cx="1738797" cy="38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Classification Report</a:t>
            </a:r>
          </a:p>
        </p:txBody>
      </p:sp>
      <p:sp>
        <p:nvSpPr>
          <p:cNvPr id="7" name="Google Shape;253;g27348ee98e6_0_75">
            <a:extLst>
              <a:ext uri="{FF2B5EF4-FFF2-40B4-BE49-F238E27FC236}">
                <a16:creationId xmlns:a16="http://schemas.microsoft.com/office/drawing/2014/main" id="{3807B5FB-E1E2-4CDE-CE98-4CF4AC7BC0F6}"/>
              </a:ext>
            </a:extLst>
          </p:cNvPr>
          <p:cNvSpPr txBox="1"/>
          <p:nvPr/>
        </p:nvSpPr>
        <p:spPr>
          <a:xfrm>
            <a:off x="3527252" y="2481277"/>
            <a:ext cx="1738797" cy="38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Confusion Matrix</a:t>
            </a:r>
          </a:p>
        </p:txBody>
      </p:sp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A232E208-CC89-A9A4-9A0F-20CBE3B11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287660"/>
              </p:ext>
            </p:extLst>
          </p:nvPr>
        </p:nvGraphicFramePr>
        <p:xfrm>
          <a:off x="5997160" y="1073900"/>
          <a:ext cx="1992948" cy="645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968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Test Accuracy</a:t>
                      </a:r>
                      <a:endParaRPr lang="en-ID" sz="1200" b="1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dirty="0">
                          <a:solidFill>
                            <a:schemeClr val="tx1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91.75%</a:t>
                      </a:r>
                      <a:endParaRPr lang="en-ID" sz="1200" b="0" i="1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Test Loss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0.2438</a:t>
                      </a:r>
                      <a:endParaRPr lang="en-ID" sz="1200" b="0" i="1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</a:tbl>
          </a:graphicData>
        </a:graphic>
      </p:graphicFrame>
      <p:sp>
        <p:nvSpPr>
          <p:cNvPr id="9" name="Google Shape;253;g27348ee98e6_0_75">
            <a:extLst>
              <a:ext uri="{FF2B5EF4-FFF2-40B4-BE49-F238E27FC236}">
                <a16:creationId xmlns:a16="http://schemas.microsoft.com/office/drawing/2014/main" id="{98523604-B97B-8253-9833-0CD1F040BE2D}"/>
              </a:ext>
            </a:extLst>
          </p:cNvPr>
          <p:cNvSpPr txBox="1"/>
          <p:nvPr/>
        </p:nvSpPr>
        <p:spPr>
          <a:xfrm>
            <a:off x="1052894" y="3841092"/>
            <a:ext cx="2272197" cy="38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u="sng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</a:t>
            </a:r>
          </a:p>
        </p:txBody>
      </p:sp>
    </p:spTree>
    <p:extLst>
      <p:ext uri="{BB962C8B-B14F-4D97-AF65-F5344CB8AC3E}">
        <p14:creationId xmlns:p14="http://schemas.microsoft.com/office/powerpoint/2010/main" val="749327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27348ee98e6_0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27348ee98e6_0_75"/>
          <p:cNvSpPr txBox="1"/>
          <p:nvPr/>
        </p:nvSpPr>
        <p:spPr>
          <a:xfrm>
            <a:off x="1052894" y="4053353"/>
            <a:ext cx="7039800" cy="977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Dibanding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DNN,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peningkatan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pada </a:t>
            </a:r>
            <a:r>
              <a:rPr lang="en-US" sz="12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Accuracy (91.75% -&gt; 92.04%) 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dan</a:t>
            </a:r>
            <a:r>
              <a:rPr lang="en-US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Loss (0.2438 -&gt; 0.2384).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berhasil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mengurangi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false positive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289 (DNN) -&gt; 211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–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artinya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lebih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banyak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ulasan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negatif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yang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berhasil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klasifikasi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dengan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benar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lang="en-US" sz="1200" b="1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71BC24B7-01F7-9963-E1DE-4544376C9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610160"/>
              </p:ext>
            </p:extLst>
          </p:nvPr>
        </p:nvGraphicFramePr>
        <p:xfrm>
          <a:off x="1101385" y="1073900"/>
          <a:ext cx="4798793" cy="1417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824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1016317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162077019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550586641"/>
                    </a:ext>
                  </a:extLst>
                </a:gridCol>
                <a:gridCol w="927417">
                  <a:extLst>
                    <a:ext uri="{9D8B030D-6E8A-4147-A177-3AD203B41FA5}">
                      <a16:colId xmlns:a16="http://schemas.microsoft.com/office/drawing/2014/main" val="434123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Precision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Recall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F1-Score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Support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Negatif</a:t>
                      </a:r>
                      <a:endParaRPr lang="en-US" sz="1200" b="1" i="0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0.90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0.95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4.308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Positif</a:t>
                      </a:r>
                      <a:endParaRPr lang="en-ID" sz="1200" b="1" i="0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0.95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0.89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4.308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Macro AVG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8.616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4" name="Google Shape;223;g27348ee98e6_0_45">
            <a:extLst>
              <a:ext uri="{FF2B5EF4-FFF2-40B4-BE49-F238E27FC236}">
                <a16:creationId xmlns:a16="http://schemas.microsoft.com/office/drawing/2014/main" id="{F5CF9134-3CE9-BD2F-9D38-DFB64F6022B5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EVALUASI </a:t>
            </a:r>
            <a:r>
              <a:rPr lang="en-US" sz="2000" b="1" spc="300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(MAIN)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BED9C75F-72D7-59C3-A987-5BABDDC11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216509"/>
              </p:ext>
            </p:extLst>
          </p:nvPr>
        </p:nvGraphicFramePr>
        <p:xfrm>
          <a:off x="3628293" y="2790498"/>
          <a:ext cx="4361815" cy="1046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190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1590993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  <a:gridCol w="1498917">
                  <a:extLst>
                    <a:ext uri="{9D8B030D-6E8A-4147-A177-3AD203B41FA5}">
                      <a16:colId xmlns:a16="http://schemas.microsoft.com/office/drawing/2014/main" val="3162077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Prediksi</a:t>
                      </a:r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Negatif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Prediksi</a:t>
                      </a:r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Positif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Aktual</a:t>
                      </a:r>
                      <a:r>
                        <a:rPr lang="en-US" sz="1200" b="1" i="0" strike="noStrike" dirty="0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Negatif</a:t>
                      </a:r>
                      <a:endParaRPr lang="en-US" sz="1200" b="1" i="0" strike="noStrike" dirty="0">
                        <a:solidFill>
                          <a:schemeClr val="bg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4.097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211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Aktual</a:t>
                      </a:r>
                      <a:r>
                        <a:rPr lang="en-US" sz="1200" b="1" i="0" strike="noStrike" dirty="0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Positif</a:t>
                      </a:r>
                      <a:endParaRPr lang="en-ID" sz="1200" b="1" i="0" strike="noStrike" dirty="0">
                        <a:solidFill>
                          <a:schemeClr val="bg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475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3833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</a:tbl>
          </a:graphicData>
        </a:graphic>
      </p:graphicFrame>
      <p:sp>
        <p:nvSpPr>
          <p:cNvPr id="6" name="Google Shape;253;g27348ee98e6_0_75">
            <a:extLst>
              <a:ext uri="{FF2B5EF4-FFF2-40B4-BE49-F238E27FC236}">
                <a16:creationId xmlns:a16="http://schemas.microsoft.com/office/drawing/2014/main" id="{70B08DAB-BF35-A2AD-5250-5F23534154C3}"/>
              </a:ext>
            </a:extLst>
          </p:cNvPr>
          <p:cNvSpPr txBox="1"/>
          <p:nvPr/>
        </p:nvSpPr>
        <p:spPr>
          <a:xfrm>
            <a:off x="1004403" y="769089"/>
            <a:ext cx="1738797" cy="38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Classification Report</a:t>
            </a:r>
          </a:p>
        </p:txBody>
      </p:sp>
      <p:sp>
        <p:nvSpPr>
          <p:cNvPr id="7" name="Google Shape;253;g27348ee98e6_0_75">
            <a:extLst>
              <a:ext uri="{FF2B5EF4-FFF2-40B4-BE49-F238E27FC236}">
                <a16:creationId xmlns:a16="http://schemas.microsoft.com/office/drawing/2014/main" id="{3807B5FB-E1E2-4CDE-CE98-4CF4AC7BC0F6}"/>
              </a:ext>
            </a:extLst>
          </p:cNvPr>
          <p:cNvSpPr txBox="1"/>
          <p:nvPr/>
        </p:nvSpPr>
        <p:spPr>
          <a:xfrm>
            <a:off x="3527252" y="2481277"/>
            <a:ext cx="1738797" cy="38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Confusion Matrix</a:t>
            </a:r>
          </a:p>
        </p:txBody>
      </p:sp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A232E208-CC89-A9A4-9A0F-20CBE3B11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643946"/>
              </p:ext>
            </p:extLst>
          </p:nvPr>
        </p:nvGraphicFramePr>
        <p:xfrm>
          <a:off x="5997160" y="1073900"/>
          <a:ext cx="1992948" cy="828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968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Test Accuracy</a:t>
                      </a:r>
                      <a:endParaRPr lang="en-ID" sz="1200" b="1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dirty="0">
                          <a:solidFill>
                            <a:schemeClr val="tx1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92.04%</a:t>
                      </a:r>
                      <a:endParaRPr lang="en-ID" sz="1200" b="0" i="1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Test Loss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0.2384</a:t>
                      </a:r>
                      <a:endParaRPr lang="en-ID" sz="1200" b="0" i="1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</a:tbl>
          </a:graphicData>
        </a:graphic>
      </p:graphicFrame>
      <p:sp>
        <p:nvSpPr>
          <p:cNvPr id="9" name="Google Shape;253;g27348ee98e6_0_75">
            <a:extLst>
              <a:ext uri="{FF2B5EF4-FFF2-40B4-BE49-F238E27FC236}">
                <a16:creationId xmlns:a16="http://schemas.microsoft.com/office/drawing/2014/main" id="{98523604-B97B-8253-9833-0CD1F040BE2D}"/>
              </a:ext>
            </a:extLst>
          </p:cNvPr>
          <p:cNvSpPr txBox="1"/>
          <p:nvPr/>
        </p:nvSpPr>
        <p:spPr>
          <a:xfrm>
            <a:off x="1052894" y="3841092"/>
            <a:ext cx="2272197" cy="38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u="sng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</a:t>
            </a:r>
          </a:p>
        </p:txBody>
      </p:sp>
    </p:spTree>
    <p:extLst>
      <p:ext uri="{BB962C8B-B14F-4D97-AF65-F5344CB8AC3E}">
        <p14:creationId xmlns:p14="http://schemas.microsoft.com/office/powerpoint/2010/main" val="43538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27348ee98e6_0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27348ee98e6_0_75"/>
          <p:cNvSpPr txBox="1"/>
          <p:nvPr/>
        </p:nvSpPr>
        <p:spPr>
          <a:xfrm>
            <a:off x="1052894" y="4053353"/>
            <a:ext cx="7039800" cy="977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Tuned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memiliki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false positive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terendah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(203)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Namun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secara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keseluruhan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Accuracy (91.99%) dan Test Loss (0.2389)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masih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bawah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Main,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sehingga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Main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tetap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dipilih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sebagai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model final.</a:t>
            </a:r>
            <a:endParaRPr lang="en-US" sz="1200" b="1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71BC24B7-01F7-9963-E1DE-4544376C9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658714"/>
              </p:ext>
            </p:extLst>
          </p:nvPr>
        </p:nvGraphicFramePr>
        <p:xfrm>
          <a:off x="1101385" y="1073900"/>
          <a:ext cx="4798793" cy="1417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824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1016317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162077019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550586641"/>
                    </a:ext>
                  </a:extLst>
                </a:gridCol>
                <a:gridCol w="927417">
                  <a:extLst>
                    <a:ext uri="{9D8B030D-6E8A-4147-A177-3AD203B41FA5}">
                      <a16:colId xmlns:a16="http://schemas.microsoft.com/office/drawing/2014/main" val="434123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Precision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Recall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F1-Score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Support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Negatif</a:t>
                      </a:r>
                      <a:endParaRPr lang="en-US" sz="1200" b="1" i="0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0.89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0.95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4.308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Positif</a:t>
                      </a:r>
                      <a:endParaRPr lang="en-ID" sz="1200" b="1" i="0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0.95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0.89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4.308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Macro AVG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8.616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4" name="Google Shape;223;g27348ee98e6_0_45">
            <a:extLst>
              <a:ext uri="{FF2B5EF4-FFF2-40B4-BE49-F238E27FC236}">
                <a16:creationId xmlns:a16="http://schemas.microsoft.com/office/drawing/2014/main" id="{F5CF9134-3CE9-BD2F-9D38-DFB64F6022B5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EVALUASI </a:t>
            </a:r>
            <a:r>
              <a:rPr lang="en-US" sz="2000" b="1" spc="300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(TUNED)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BED9C75F-72D7-59C3-A987-5BABDDC11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300156"/>
              </p:ext>
            </p:extLst>
          </p:nvPr>
        </p:nvGraphicFramePr>
        <p:xfrm>
          <a:off x="3628293" y="2790498"/>
          <a:ext cx="4361815" cy="1046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190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1590993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  <a:gridCol w="1498917">
                  <a:extLst>
                    <a:ext uri="{9D8B030D-6E8A-4147-A177-3AD203B41FA5}">
                      <a16:colId xmlns:a16="http://schemas.microsoft.com/office/drawing/2014/main" val="3162077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Prediksi</a:t>
                      </a:r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Negatif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Prediksi</a:t>
                      </a:r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b="1" dirty="0" err="1"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Positif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Aktual</a:t>
                      </a:r>
                      <a:r>
                        <a:rPr lang="en-US" sz="1200" b="1" i="0" strike="noStrike" dirty="0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Negatif</a:t>
                      </a:r>
                      <a:endParaRPr lang="en-US" sz="1200" b="1" i="0" strike="noStrike" dirty="0">
                        <a:solidFill>
                          <a:schemeClr val="bg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4.105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203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Aktual</a:t>
                      </a:r>
                      <a:r>
                        <a:rPr lang="en-US" sz="1200" b="1" i="0" strike="noStrike" dirty="0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en-US" sz="1200" b="1" i="0" strike="noStrike" dirty="0" err="1">
                          <a:solidFill>
                            <a:schemeClr val="bg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Positif</a:t>
                      </a:r>
                      <a:endParaRPr lang="en-ID" sz="1200" b="1" i="0" strike="noStrike" dirty="0">
                        <a:solidFill>
                          <a:schemeClr val="bg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487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3.821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</a:tbl>
          </a:graphicData>
        </a:graphic>
      </p:graphicFrame>
      <p:sp>
        <p:nvSpPr>
          <p:cNvPr id="6" name="Google Shape;253;g27348ee98e6_0_75">
            <a:extLst>
              <a:ext uri="{FF2B5EF4-FFF2-40B4-BE49-F238E27FC236}">
                <a16:creationId xmlns:a16="http://schemas.microsoft.com/office/drawing/2014/main" id="{70B08DAB-BF35-A2AD-5250-5F23534154C3}"/>
              </a:ext>
            </a:extLst>
          </p:cNvPr>
          <p:cNvSpPr txBox="1"/>
          <p:nvPr/>
        </p:nvSpPr>
        <p:spPr>
          <a:xfrm>
            <a:off x="1004403" y="769089"/>
            <a:ext cx="1738797" cy="38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Classification Report</a:t>
            </a:r>
          </a:p>
        </p:txBody>
      </p:sp>
      <p:sp>
        <p:nvSpPr>
          <p:cNvPr id="7" name="Google Shape;253;g27348ee98e6_0_75">
            <a:extLst>
              <a:ext uri="{FF2B5EF4-FFF2-40B4-BE49-F238E27FC236}">
                <a16:creationId xmlns:a16="http://schemas.microsoft.com/office/drawing/2014/main" id="{3807B5FB-E1E2-4CDE-CE98-4CF4AC7BC0F6}"/>
              </a:ext>
            </a:extLst>
          </p:cNvPr>
          <p:cNvSpPr txBox="1"/>
          <p:nvPr/>
        </p:nvSpPr>
        <p:spPr>
          <a:xfrm>
            <a:off x="3527252" y="2481277"/>
            <a:ext cx="1738797" cy="38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Confusion Matrix</a:t>
            </a:r>
          </a:p>
        </p:txBody>
      </p:sp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A232E208-CC89-A9A4-9A0F-20CBE3B11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881664"/>
              </p:ext>
            </p:extLst>
          </p:nvPr>
        </p:nvGraphicFramePr>
        <p:xfrm>
          <a:off x="5997160" y="1073900"/>
          <a:ext cx="1992948" cy="645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968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Test Accuracy</a:t>
                      </a:r>
                      <a:endParaRPr lang="en-ID" sz="1200" b="1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1" dirty="0">
                          <a:solidFill>
                            <a:schemeClr val="tx1"/>
                          </a:solidFill>
                          <a:latin typeface="Plus Jakarta Sans" panose="020B0604020202020204" charset="0"/>
                          <a:cs typeface="Plus Jakarta Sans" panose="020B0604020202020204" charset="0"/>
                        </a:rPr>
                        <a:t>91.99%</a:t>
                      </a:r>
                      <a:endParaRPr lang="en-ID" sz="1200" b="0" i="1" dirty="0">
                        <a:solidFill>
                          <a:schemeClr val="tx1"/>
                        </a:solidFill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Test Loss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solidFill>
                            <a:schemeClr val="tx1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0.2389</a:t>
                      </a:r>
                      <a:endParaRPr lang="en-ID" sz="1200" b="0" i="1" strike="noStrike" dirty="0">
                        <a:solidFill>
                          <a:schemeClr val="tx1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</a:tbl>
          </a:graphicData>
        </a:graphic>
      </p:graphicFrame>
      <p:sp>
        <p:nvSpPr>
          <p:cNvPr id="9" name="Google Shape;253;g27348ee98e6_0_75">
            <a:extLst>
              <a:ext uri="{FF2B5EF4-FFF2-40B4-BE49-F238E27FC236}">
                <a16:creationId xmlns:a16="http://schemas.microsoft.com/office/drawing/2014/main" id="{98523604-B97B-8253-9833-0CD1F040BE2D}"/>
              </a:ext>
            </a:extLst>
          </p:cNvPr>
          <p:cNvSpPr txBox="1"/>
          <p:nvPr/>
        </p:nvSpPr>
        <p:spPr>
          <a:xfrm>
            <a:off x="1052894" y="3841092"/>
            <a:ext cx="2272197" cy="38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u="sng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</a:t>
            </a:r>
          </a:p>
        </p:txBody>
      </p:sp>
    </p:spTree>
    <p:extLst>
      <p:ext uri="{BB962C8B-B14F-4D97-AF65-F5344CB8AC3E}">
        <p14:creationId xmlns:p14="http://schemas.microsoft.com/office/powerpoint/2010/main" val="2634531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27348ee98e6_0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71BC24B7-01F7-9963-E1DE-4544376C9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914171"/>
              </p:ext>
            </p:extLst>
          </p:nvPr>
        </p:nvGraphicFramePr>
        <p:xfrm>
          <a:off x="1185759" y="884212"/>
          <a:ext cx="4425633" cy="1417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445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1044893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3162077019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25505866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Model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Accuracy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F1-Score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Test Loss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DNN (Baseline)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91.75%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0.2438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solidFill>
                            <a:srgbClr val="00B05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BiLSTM</a:t>
                      </a:r>
                      <a:r>
                        <a:rPr lang="en-US" sz="1200" b="1" i="0" strike="noStrike" dirty="0">
                          <a:solidFill>
                            <a:srgbClr val="00B05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(Main)</a:t>
                      </a:r>
                      <a:endParaRPr lang="en-ID" sz="1200" b="1" i="0" strike="noStrike" dirty="0">
                        <a:solidFill>
                          <a:srgbClr val="00B05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solidFill>
                            <a:srgbClr val="00B05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92.04%</a:t>
                      </a:r>
                      <a:endParaRPr lang="en-ID" sz="1200" b="0" i="1" strike="noStrike" dirty="0">
                        <a:solidFill>
                          <a:srgbClr val="00B05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solidFill>
                            <a:srgbClr val="00B05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solidFill>
                          <a:srgbClr val="00B05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solidFill>
                            <a:srgbClr val="00B05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0.2384</a:t>
                      </a:r>
                      <a:endParaRPr lang="en-ID" sz="1200" b="0" i="1" strike="noStrike" dirty="0">
                        <a:solidFill>
                          <a:srgbClr val="00B05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BiLSTM</a:t>
                      </a:r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(Tuned)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91.99%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0.92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0.2389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4" name="Google Shape;223;g27348ee98e6_0_45">
            <a:extLst>
              <a:ext uri="{FF2B5EF4-FFF2-40B4-BE49-F238E27FC236}">
                <a16:creationId xmlns:a16="http://schemas.microsoft.com/office/drawing/2014/main" id="{7389AD10-6877-3B7A-0445-B6BDE9F71859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en-US" sz="2000" b="1" i="0" strike="noStrike" cap="none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</a:t>
            </a:r>
            <a:r>
              <a:rPr lang="en-US" sz="2000" b="1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PARASI KETIGA MODEL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CDF7DB2C-87E0-E346-2544-0488D4108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714924"/>
              </p:ext>
            </p:extLst>
          </p:nvPr>
        </p:nvGraphicFramePr>
        <p:xfrm>
          <a:off x="2548886" y="2400157"/>
          <a:ext cx="5345113" cy="1417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4455">
                  <a:extLst>
                    <a:ext uri="{9D8B030D-6E8A-4147-A177-3AD203B41FA5}">
                      <a16:colId xmlns:a16="http://schemas.microsoft.com/office/drawing/2014/main" val="1752260481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932250386"/>
                    </a:ext>
                  </a:extLst>
                </a:gridCol>
                <a:gridCol w="1024255">
                  <a:extLst>
                    <a:ext uri="{9D8B030D-6E8A-4147-A177-3AD203B41FA5}">
                      <a16:colId xmlns:a16="http://schemas.microsoft.com/office/drawing/2014/main" val="3162077019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550586641"/>
                    </a:ext>
                  </a:extLst>
                </a:gridCol>
                <a:gridCol w="927417">
                  <a:extLst>
                    <a:ext uri="{9D8B030D-6E8A-4147-A177-3AD203B41FA5}">
                      <a16:colId xmlns:a16="http://schemas.microsoft.com/office/drawing/2014/main" val="434123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Model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True Neg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False Pos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False Neg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Plus Jakarta Sans" panose="020B0604020202020204" charset="0"/>
                          <a:cs typeface="Plus Jakarta Sans" panose="020B0604020202020204" charset="0"/>
                        </a:rPr>
                        <a:t>True Pos</a:t>
                      </a:r>
                      <a:endParaRPr lang="en-ID" b="1" dirty="0"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DNN (Baseline)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4.019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289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422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3.886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9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solidFill>
                            <a:srgbClr val="00B05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BiLSTM</a:t>
                      </a:r>
                      <a:r>
                        <a:rPr lang="en-US" sz="1200" b="1" i="0" strike="noStrike" dirty="0">
                          <a:solidFill>
                            <a:srgbClr val="00B05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(Main)</a:t>
                      </a:r>
                      <a:endParaRPr lang="en-ID" sz="1200" b="1" i="0" strike="noStrike" dirty="0">
                        <a:solidFill>
                          <a:srgbClr val="00B05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solidFill>
                            <a:srgbClr val="00B05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4.097</a:t>
                      </a:r>
                      <a:endParaRPr lang="en-ID" sz="1200" b="0" i="1" strike="noStrike" dirty="0">
                        <a:solidFill>
                          <a:srgbClr val="00B05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solidFill>
                            <a:srgbClr val="00B05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211</a:t>
                      </a:r>
                      <a:endParaRPr lang="en-ID" sz="1200" b="0" i="1" strike="noStrike" dirty="0">
                        <a:solidFill>
                          <a:srgbClr val="00B05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solidFill>
                            <a:srgbClr val="00B05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475</a:t>
                      </a:r>
                      <a:endParaRPr lang="en-ID" sz="1200" b="0" i="1" strike="noStrike" dirty="0">
                        <a:solidFill>
                          <a:srgbClr val="00B05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solidFill>
                            <a:srgbClr val="00B05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3.833</a:t>
                      </a:r>
                      <a:endParaRPr lang="en-ID" sz="1200" b="0" i="1" strike="noStrike" dirty="0">
                        <a:solidFill>
                          <a:srgbClr val="00B05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910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strike="noStrike" dirty="0" err="1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BiLSTM</a:t>
                      </a:r>
                      <a:r>
                        <a:rPr lang="en-US" sz="1200" b="1" i="0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(Tuned)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4.105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203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487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1" strike="noStrike" dirty="0"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3.821</a:t>
                      </a:r>
                      <a:endParaRPr lang="en-ID" sz="1200" b="0" i="1" strike="noStrike" dirty="0"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7631100"/>
                  </a:ext>
                </a:extLst>
              </a:tr>
            </a:tbl>
          </a:graphicData>
        </a:graphic>
      </p:graphicFrame>
      <p:sp>
        <p:nvSpPr>
          <p:cNvPr id="6" name="Google Shape;253;g27348ee98e6_0_75">
            <a:extLst>
              <a:ext uri="{FF2B5EF4-FFF2-40B4-BE49-F238E27FC236}">
                <a16:creationId xmlns:a16="http://schemas.microsoft.com/office/drawing/2014/main" id="{71D34D75-7DBD-04E1-4E92-D0C6DBDF04A5}"/>
              </a:ext>
            </a:extLst>
          </p:cNvPr>
          <p:cNvSpPr txBox="1"/>
          <p:nvPr/>
        </p:nvSpPr>
        <p:spPr>
          <a:xfrm>
            <a:off x="1052894" y="4053353"/>
            <a:ext cx="7039800" cy="63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Main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dipilih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sebagai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model final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karena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Accuracy </a:t>
            </a:r>
            <a:r>
              <a:rPr lang="en-US" sz="1200" b="1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tertinggi</a:t>
            </a:r>
            <a:r>
              <a:rPr lang="en-US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(92.</a:t>
            </a:r>
            <a:r>
              <a:rPr lang="id-ID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r>
              <a:rPr lang="en-US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%) dan Test Loss </a:t>
            </a:r>
            <a:r>
              <a:rPr lang="en-US" sz="1200" b="1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terendah</a:t>
            </a:r>
            <a:r>
              <a:rPr lang="en-US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(0.23</a:t>
            </a:r>
            <a:r>
              <a:rPr lang="id-ID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84</a:t>
            </a:r>
            <a:r>
              <a:rPr lang="en-US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lang="en-US" sz="1200" b="1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" name="Google Shape;253;g27348ee98e6_0_75">
            <a:extLst>
              <a:ext uri="{FF2B5EF4-FFF2-40B4-BE49-F238E27FC236}">
                <a16:creationId xmlns:a16="http://schemas.microsoft.com/office/drawing/2014/main" id="{C22B84DE-41EE-4907-00A8-FA908D48DFCD}"/>
              </a:ext>
            </a:extLst>
          </p:cNvPr>
          <p:cNvSpPr txBox="1"/>
          <p:nvPr/>
        </p:nvSpPr>
        <p:spPr>
          <a:xfrm>
            <a:off x="1052894" y="3841092"/>
            <a:ext cx="2272197" cy="38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u="sng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27348ee98e6_0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23;g27348ee98e6_0_45">
            <a:extLst>
              <a:ext uri="{FF2B5EF4-FFF2-40B4-BE49-F238E27FC236}">
                <a16:creationId xmlns:a16="http://schemas.microsoft.com/office/drawing/2014/main" id="{7389AD10-6877-3B7A-0445-B6BDE9F71859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id-ID" sz="2000" b="1" i="0" strike="noStrike" cap="none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 SERIES SENTIMENT TREND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" name="Google Shape;253;g27348ee98e6_0_75">
            <a:extLst>
              <a:ext uri="{FF2B5EF4-FFF2-40B4-BE49-F238E27FC236}">
                <a16:creationId xmlns:a16="http://schemas.microsoft.com/office/drawing/2014/main" id="{49B54E59-6098-6C8B-25F7-ACC7C145FE7B}"/>
              </a:ext>
            </a:extLst>
          </p:cNvPr>
          <p:cNvSpPr txBox="1"/>
          <p:nvPr/>
        </p:nvSpPr>
        <p:spPr>
          <a:xfrm>
            <a:off x="1052894" y="788521"/>
            <a:ext cx="7039800" cy="63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BiLSTM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digunakan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memprediksi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sentiment pada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seluruh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dataset (86.158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ulasan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),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kemudian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diagregasi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minggu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melihat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pola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perubahan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sentiment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pengguna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Gojek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waktu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waktu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(November 2021 – </a:t>
            </a:r>
            <a:r>
              <a:rPr lang="en-US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Januari</a:t>
            </a:r>
            <a:r>
              <a:rPr lang="en-US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2024).</a:t>
            </a:r>
            <a:endParaRPr lang="en-US" sz="1200" b="1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FFC135-333A-207A-5154-B3C03892B9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187"/>
          <a:stretch/>
        </p:blipFill>
        <p:spPr>
          <a:xfrm>
            <a:off x="922523" y="1529243"/>
            <a:ext cx="5470958" cy="165730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DBAF41-A662-C512-D512-558BE3B119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813"/>
          <a:stretch/>
        </p:blipFill>
        <p:spPr>
          <a:xfrm>
            <a:off x="2752107" y="3248888"/>
            <a:ext cx="5470958" cy="173791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0273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27348ee98e6_0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23;g27348ee98e6_0_45">
            <a:extLst>
              <a:ext uri="{FF2B5EF4-FFF2-40B4-BE49-F238E27FC236}">
                <a16:creationId xmlns:a16="http://schemas.microsoft.com/office/drawing/2014/main" id="{7389AD10-6877-3B7A-0445-B6BDE9F71859}"/>
              </a:ext>
            </a:extLst>
          </p:cNvPr>
          <p:cNvSpPr txBox="1"/>
          <p:nvPr/>
        </p:nvSpPr>
        <p:spPr>
          <a:xfrm>
            <a:off x="330221" y="276049"/>
            <a:ext cx="7039800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id-ID" sz="2000" b="1" i="0" strike="noStrike" cap="none" spc="300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 &amp; VALIDASI</a:t>
            </a:r>
            <a:endParaRPr sz="2000" b="1" i="0" strike="noStrike" cap="none" spc="3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" name="Google Shape;253;g27348ee98e6_0_75">
            <a:extLst>
              <a:ext uri="{FF2B5EF4-FFF2-40B4-BE49-F238E27FC236}">
                <a16:creationId xmlns:a16="http://schemas.microsoft.com/office/drawing/2014/main" id="{49B54E59-6098-6C8B-25F7-ACC7C145FE7B}"/>
              </a:ext>
            </a:extLst>
          </p:cNvPr>
          <p:cNvSpPr txBox="1"/>
          <p:nvPr/>
        </p:nvSpPr>
        <p:spPr>
          <a:xfrm>
            <a:off x="1052894" y="1120664"/>
            <a:ext cx="7039800" cy="91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 ulasan menurun signifikan setelah pertengahan 2022, dari </a:t>
            </a:r>
            <a:r>
              <a:rPr lang="id-ID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400–900</a:t>
            </a: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/minggu menjadi </a:t>
            </a:r>
            <a:r>
              <a:rPr lang="id-ID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200-400</a:t>
            </a: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/minggu.</a:t>
            </a: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Rasio </a:t>
            </a:r>
            <a:r>
              <a:rPr lang="id-ID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sentiment</a:t>
            </a: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negatif meningkat signifikan sepanjang 2023 – dari kisaran </a:t>
            </a:r>
            <a:r>
              <a:rPr lang="id-ID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45–55% </a:t>
            </a: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menjadi puncak </a:t>
            </a:r>
            <a:r>
              <a:rPr lang="id-ID" sz="1200" b="1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70-73%</a:t>
            </a: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akhir periode, mengindikasikan penurunan kepuasan pengguna gradual.</a:t>
            </a:r>
            <a:endParaRPr lang="en-US" sz="12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" name="Google Shape;253;g27348ee98e6_0_75">
            <a:extLst>
              <a:ext uri="{FF2B5EF4-FFF2-40B4-BE49-F238E27FC236}">
                <a16:creationId xmlns:a16="http://schemas.microsoft.com/office/drawing/2014/main" id="{47B6A40A-14A8-F59D-2C6A-E924E88647C3}"/>
              </a:ext>
            </a:extLst>
          </p:cNvPr>
          <p:cNvSpPr txBox="1"/>
          <p:nvPr/>
        </p:nvSpPr>
        <p:spPr>
          <a:xfrm>
            <a:off x="997476" y="3108837"/>
            <a:ext cx="7039800" cy="91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Minggu 10 April 2023 (rasio negatif 66.8%) bertepatan dengan gangguan aplikasi Gojek pada 6 April 2023.</a:t>
            </a: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Minggu Januari 2023 bertepatan dengan insiden server </a:t>
            </a:r>
            <a:r>
              <a:rPr lang="id-ID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down</a:t>
            </a: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(13 Januari 2023, 197 laporan dalam 3 jam).</a:t>
            </a:r>
            <a:endParaRPr lang="en-US" sz="1200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" name="Google Shape;253;g27348ee98e6_0_75">
            <a:extLst>
              <a:ext uri="{FF2B5EF4-FFF2-40B4-BE49-F238E27FC236}">
                <a16:creationId xmlns:a16="http://schemas.microsoft.com/office/drawing/2014/main" id="{CDE62855-5026-2A93-F83F-E8797BA12654}"/>
              </a:ext>
            </a:extLst>
          </p:cNvPr>
          <p:cNvSpPr txBox="1"/>
          <p:nvPr/>
        </p:nvSpPr>
        <p:spPr>
          <a:xfrm>
            <a:off x="997476" y="2458764"/>
            <a:ext cx="3997088" cy="30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id-ID" b="1" u="sng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Validasi Terhadap Kejadian Nyata</a:t>
            </a:r>
            <a:endParaRPr lang="en-US" b="1" u="sng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" name="Google Shape;253;g27348ee98e6_0_75">
            <a:extLst>
              <a:ext uri="{FF2B5EF4-FFF2-40B4-BE49-F238E27FC236}">
                <a16:creationId xmlns:a16="http://schemas.microsoft.com/office/drawing/2014/main" id="{A6A20BE3-A815-EF65-5D43-AE1D6F5BD782}"/>
              </a:ext>
            </a:extLst>
          </p:cNvPr>
          <p:cNvSpPr txBox="1"/>
          <p:nvPr/>
        </p:nvSpPr>
        <p:spPr>
          <a:xfrm>
            <a:off x="997476" y="2705115"/>
            <a:ext cx="6372545" cy="47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Beberapa lonjakan </a:t>
            </a:r>
            <a:r>
              <a:rPr lang="id-ID" sz="1200" i="1" dirty="0" err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sentiment</a:t>
            </a:r>
            <a:r>
              <a:rPr lang="id-ID" sz="1200" i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negatif berhasil dikonfirmasi bertepatan dengan insiden nyata:</a:t>
            </a:r>
            <a:endParaRPr lang="en-US" sz="1200" i="1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" name="Google Shape;253;g27348ee98e6_0_75">
            <a:extLst>
              <a:ext uri="{FF2B5EF4-FFF2-40B4-BE49-F238E27FC236}">
                <a16:creationId xmlns:a16="http://schemas.microsoft.com/office/drawing/2014/main" id="{F4AE7A23-4900-2D30-1C0A-6C93D89F684C}"/>
              </a:ext>
            </a:extLst>
          </p:cNvPr>
          <p:cNvSpPr txBox="1"/>
          <p:nvPr/>
        </p:nvSpPr>
        <p:spPr>
          <a:xfrm>
            <a:off x="1025185" y="4325381"/>
            <a:ext cx="7095218" cy="54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id-ID" sz="1200" b="1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Membuktikan model tidak hanya akurat secara statistik (92%), tapi mampu menangkap sinyal nyata dari peristiwa dunia.</a:t>
            </a:r>
            <a:endParaRPr lang="en-US" sz="1200" b="1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" name="Google Shape;253;g27348ee98e6_0_75">
            <a:extLst>
              <a:ext uri="{FF2B5EF4-FFF2-40B4-BE49-F238E27FC236}">
                <a16:creationId xmlns:a16="http://schemas.microsoft.com/office/drawing/2014/main" id="{1F45F9B4-A5F7-4243-0AA4-C00685450979}"/>
              </a:ext>
            </a:extLst>
          </p:cNvPr>
          <p:cNvSpPr txBox="1"/>
          <p:nvPr/>
        </p:nvSpPr>
        <p:spPr>
          <a:xfrm>
            <a:off x="997476" y="855905"/>
            <a:ext cx="3997088" cy="30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id-ID" b="1" u="sng" dirty="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Temuan Utama</a:t>
            </a:r>
            <a:endParaRPr lang="en-US" b="1" u="sng" dirty="0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57912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A8C4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07ed3a68e5_0_12"/>
          <p:cNvSpPr/>
          <p:nvPr/>
        </p:nvSpPr>
        <p:spPr>
          <a:xfrm>
            <a:off x="-1050025" y="1135575"/>
            <a:ext cx="5007900" cy="4009500"/>
          </a:xfrm>
          <a:prstGeom prst="parallelogram">
            <a:avLst>
              <a:gd name="adj" fmla="val 25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07ed3a68e5_0_12"/>
          <p:cNvSpPr/>
          <p:nvPr/>
        </p:nvSpPr>
        <p:spPr>
          <a:xfrm>
            <a:off x="1231875" y="3379605"/>
            <a:ext cx="2726100" cy="1765500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07ed3a68e5_0_12"/>
          <p:cNvSpPr/>
          <p:nvPr/>
        </p:nvSpPr>
        <p:spPr>
          <a:xfrm>
            <a:off x="2300550" y="3923775"/>
            <a:ext cx="1853100" cy="1221300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07ed3a68e5_0_12"/>
          <p:cNvSpPr txBox="1">
            <a:spLocks noGrp="1"/>
          </p:cNvSpPr>
          <p:nvPr>
            <p:ph type="ctrTitle"/>
          </p:nvPr>
        </p:nvSpPr>
        <p:spPr>
          <a:xfrm>
            <a:off x="3911700" y="1837475"/>
            <a:ext cx="5203800" cy="14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4020" b="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Deployment</a:t>
            </a:r>
            <a:endParaRPr sz="4020"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2" name="Google Shape;262;g307ed3a68e5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838" y="276722"/>
            <a:ext cx="1185011" cy="35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g307ed3a68e5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07ed3a68e5_0_20"/>
          <p:cNvSpPr txBox="1"/>
          <p:nvPr/>
        </p:nvSpPr>
        <p:spPr>
          <a:xfrm>
            <a:off x="1117075" y="1136623"/>
            <a:ext cx="7039800" cy="18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Jelaskan langkah-langkah deployment jika model dideploy, termasuk alat dan platform yang digunakan.</a:t>
            </a:r>
            <a:endParaRPr sz="2000" b="1" i="0" u="none" strike="noStrike" cap="none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A8C4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07ed3a68e5_0_27"/>
          <p:cNvSpPr/>
          <p:nvPr/>
        </p:nvSpPr>
        <p:spPr>
          <a:xfrm>
            <a:off x="-1050025" y="1135575"/>
            <a:ext cx="5007900" cy="4009500"/>
          </a:xfrm>
          <a:prstGeom prst="parallelogram">
            <a:avLst>
              <a:gd name="adj" fmla="val 25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07ed3a68e5_0_27"/>
          <p:cNvSpPr/>
          <p:nvPr/>
        </p:nvSpPr>
        <p:spPr>
          <a:xfrm>
            <a:off x="1231875" y="3379605"/>
            <a:ext cx="2726100" cy="1765500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07ed3a68e5_0_27"/>
          <p:cNvSpPr/>
          <p:nvPr/>
        </p:nvSpPr>
        <p:spPr>
          <a:xfrm>
            <a:off x="2300550" y="3923775"/>
            <a:ext cx="1853100" cy="1221300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07ed3a68e5_0_27"/>
          <p:cNvSpPr txBox="1">
            <a:spLocks noGrp="1"/>
          </p:cNvSpPr>
          <p:nvPr>
            <p:ph type="ctrTitle"/>
          </p:nvPr>
        </p:nvSpPr>
        <p:spPr>
          <a:xfrm>
            <a:off x="3911700" y="1837475"/>
            <a:ext cx="5203800" cy="14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4020" b="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 &amp; Recommendation</a:t>
            </a:r>
            <a:endParaRPr sz="4020"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77" name="Google Shape;277;g307ed3a68e5_0_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838" y="276722"/>
            <a:ext cx="1185011" cy="35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g307ed3a68e5_0_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07ed3a68e5_0_35"/>
          <p:cNvSpPr txBox="1"/>
          <p:nvPr/>
        </p:nvSpPr>
        <p:spPr>
          <a:xfrm>
            <a:off x="1117075" y="1136623"/>
            <a:ext cx="7039800" cy="18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Bagian yang merangkum temuan utama dari proyek dan memberikan rekomendasi berdasarkan hasil tersebut.</a:t>
            </a:r>
            <a:endParaRPr sz="2000" b="1" i="0" u="none" strike="noStrike" cap="none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6585e5a41e_0_428"/>
          <p:cNvSpPr txBox="1">
            <a:spLocks noGrp="1"/>
          </p:cNvSpPr>
          <p:nvPr>
            <p:ph type="ctrTitle"/>
          </p:nvPr>
        </p:nvSpPr>
        <p:spPr>
          <a:xfrm>
            <a:off x="4863675" y="3098975"/>
            <a:ext cx="42819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ct val="120369"/>
              <a:buNone/>
            </a:pPr>
            <a:r>
              <a:rPr lang="en-US" sz="4800" b="1">
                <a:latin typeface="Plus Jakarta Sans"/>
                <a:ea typeface="Plus Jakarta Sans"/>
                <a:cs typeface="Plus Jakarta Sans"/>
                <a:sym typeface="Plus Jakarta Sans"/>
              </a:rPr>
              <a:t>Terima </a:t>
            </a:r>
            <a:endParaRPr sz="4800" b="1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ct val="120369"/>
              <a:buNone/>
            </a:pPr>
            <a:r>
              <a:rPr lang="en-US" sz="4800" b="1">
                <a:latin typeface="Plus Jakarta Sans"/>
                <a:ea typeface="Plus Jakarta Sans"/>
                <a:cs typeface="Plus Jakarta Sans"/>
                <a:sym typeface="Plus Jakarta Sans"/>
              </a:rPr>
              <a:t>Kasih.</a:t>
            </a:r>
            <a:endParaRPr sz="4800" b="1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89" name="Google Shape;289;g26585e5a41e_0_428"/>
          <p:cNvGrpSpPr/>
          <p:nvPr/>
        </p:nvGrpSpPr>
        <p:grpSpPr>
          <a:xfrm>
            <a:off x="162" y="-214211"/>
            <a:ext cx="2765532" cy="2691752"/>
            <a:chOff x="9584423" y="-302695"/>
            <a:chExt cx="4822201" cy="4822201"/>
          </a:xfrm>
        </p:grpSpPr>
        <p:sp>
          <p:nvSpPr>
            <p:cNvPr id="290" name="Google Shape;290;g26585e5a41e_0_428"/>
            <p:cNvSpPr/>
            <p:nvPr/>
          </p:nvSpPr>
          <p:spPr>
            <a:xfrm rot="6626698">
              <a:off x="10121100" y="233982"/>
              <a:ext cx="3748847" cy="3748847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g26585e5a41e_0_428"/>
            <p:cNvSpPr/>
            <p:nvPr/>
          </p:nvSpPr>
          <p:spPr>
            <a:xfrm rot="5026486">
              <a:off x="10682783" y="729525"/>
              <a:ext cx="2625482" cy="2625482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g26585e5a41e_0_428"/>
            <p:cNvSpPr/>
            <p:nvPr/>
          </p:nvSpPr>
          <p:spPr>
            <a:xfrm rot="2969049">
              <a:off x="11210027" y="1256768"/>
              <a:ext cx="1570980" cy="1570980"/>
            </a:xfrm>
            <a:prstGeom prst="ellipse">
              <a:avLst/>
            </a:prstGeom>
            <a:solidFill>
              <a:srgbClr val="F08B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g26585e5a41e_0_428"/>
            <p:cNvSpPr/>
            <p:nvPr/>
          </p:nvSpPr>
          <p:spPr>
            <a:xfrm rot="10347786">
              <a:off x="11700466" y="1747209"/>
              <a:ext cx="590098" cy="59009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g26585e5a41e_0_428"/>
          <p:cNvGrpSpPr/>
          <p:nvPr/>
        </p:nvGrpSpPr>
        <p:grpSpPr>
          <a:xfrm>
            <a:off x="-840830" y="1116257"/>
            <a:ext cx="5795400" cy="5795400"/>
            <a:chOff x="4094945" y="667082"/>
            <a:chExt cx="5795400" cy="5795400"/>
          </a:xfrm>
        </p:grpSpPr>
        <p:sp>
          <p:nvSpPr>
            <p:cNvPr id="295" name="Google Shape;295;g26585e5a41e_0_428"/>
            <p:cNvSpPr/>
            <p:nvPr/>
          </p:nvSpPr>
          <p:spPr>
            <a:xfrm rot="6626718">
              <a:off x="4739938" y="1312075"/>
              <a:ext cx="4505414" cy="4505414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g26585e5a41e_0_428"/>
            <p:cNvSpPr/>
            <p:nvPr/>
          </p:nvSpPr>
          <p:spPr>
            <a:xfrm rot="5026475">
              <a:off x="5429162" y="2051505"/>
              <a:ext cx="3026548" cy="302654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g26585e5a41e_0_428"/>
            <p:cNvSpPr/>
            <p:nvPr/>
          </p:nvSpPr>
          <p:spPr>
            <a:xfrm rot="2969049">
              <a:off x="6156933" y="2732845"/>
              <a:ext cx="1570980" cy="1570980"/>
            </a:xfrm>
            <a:prstGeom prst="ellipse">
              <a:avLst/>
            </a:prstGeom>
            <a:solidFill>
              <a:srgbClr val="F08B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g26585e5a41e_0_428"/>
            <p:cNvSpPr/>
            <p:nvPr/>
          </p:nvSpPr>
          <p:spPr>
            <a:xfrm rot="10347786">
              <a:off x="6647371" y="3223287"/>
              <a:ext cx="590098" cy="59009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9" name="Google Shape;299;g26585e5a41e_0_4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763" y="276049"/>
            <a:ext cx="1184604" cy="360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1731</Words>
  <Application>Microsoft Office PowerPoint</Application>
  <PresentationFormat>Custom</PresentationFormat>
  <Paragraphs>397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Calibri</vt:lpstr>
      <vt:lpstr>Sans Serif Collection</vt:lpstr>
      <vt:lpstr>Plus Jakarta Sans Medium</vt:lpstr>
      <vt:lpstr>Plus Jakarta Sans</vt:lpstr>
      <vt:lpstr>Arial</vt:lpstr>
      <vt:lpstr>Office Theme</vt:lpstr>
      <vt:lpstr>Simple Light</vt:lpstr>
      <vt:lpstr>Gojek App Sentiment Analysis</vt:lpstr>
      <vt:lpstr>PowerPoint Presentation</vt:lpstr>
      <vt:lpstr>Problem Statement</vt:lpstr>
      <vt:lpstr>PowerPoint Presentation</vt:lpstr>
      <vt:lpstr>Data Understanding</vt:lpstr>
      <vt:lpstr>PowerPoint Presentation</vt:lpstr>
      <vt:lpstr>Exploratory Data Analysis and Visualisations</vt:lpstr>
      <vt:lpstr>PowerPoint Presentation</vt:lpstr>
      <vt:lpstr>PowerPoint Presentation</vt:lpstr>
      <vt:lpstr>PowerPoint Presentation</vt:lpstr>
      <vt:lpstr>PowerPoint Presentation</vt:lpstr>
      <vt:lpstr>Model Selection and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Deployment</vt:lpstr>
      <vt:lpstr>PowerPoint Presentation</vt:lpstr>
      <vt:lpstr>Conclusion &amp; Recommendation</vt:lpstr>
      <vt:lpstr>PowerPoint Presentation</vt:lpstr>
      <vt:lpstr>Terima  Kasih.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SINAR X</dc:creator>
  <cp:lastModifiedBy>wahyu iqsam</cp:lastModifiedBy>
  <cp:revision>401</cp:revision>
  <dcterms:created xsi:type="dcterms:W3CDTF">2021-01-14T04:03:51Z</dcterms:created>
  <dcterms:modified xsi:type="dcterms:W3CDTF">2026-07-02T01:56:54Z</dcterms:modified>
</cp:coreProperties>
</file>